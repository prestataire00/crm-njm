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58" r:id="rId4"/>
    <p:sldId id="259" r:id="rId5"/>
    <p:sldId id="273" r:id="rId6"/>
    <p:sldId id="274" r:id="rId7"/>
    <p:sldId id="271" r:id="rId8"/>
    <p:sldId id="272" r:id="rId9"/>
    <p:sldId id="275" r:id="rId10"/>
    <p:sldId id="268" r:id="rId11"/>
    <p:sldId id="269" r:id="rId12"/>
    <p:sldId id="264" r:id="rId13"/>
    <p:sldId id="261" r:id="rId14"/>
    <p:sldId id="276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5D0F"/>
    <a:srgbClr val="D4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119DB-7CC0-41E7-8E8E-94FEB88D2FB7}" type="datetimeFigureOut">
              <a:rPr lang="fr-FR" smtClean="0"/>
              <a:t>22/02/2017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1132C-A312-4B74-8BC7-69F9EF7B6B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3798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119DB-7CC0-41E7-8E8E-94FEB88D2FB7}" type="datetimeFigureOut">
              <a:rPr lang="fr-FR" smtClean="0"/>
              <a:t>22/02/2017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1132C-A312-4B74-8BC7-69F9EF7B6B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478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119DB-7CC0-41E7-8E8E-94FEB88D2FB7}" type="datetimeFigureOut">
              <a:rPr lang="fr-FR" smtClean="0"/>
              <a:t>22/02/2017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1132C-A312-4B74-8BC7-69F9EF7B6B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885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119DB-7CC0-41E7-8E8E-94FEB88D2FB7}" type="datetimeFigureOut">
              <a:rPr lang="fr-FR" smtClean="0"/>
              <a:t>22/02/2017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1132C-A312-4B74-8BC7-69F9EF7B6B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3970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119DB-7CC0-41E7-8E8E-94FEB88D2FB7}" type="datetimeFigureOut">
              <a:rPr lang="fr-FR" smtClean="0"/>
              <a:t>22/02/2017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1132C-A312-4B74-8BC7-69F9EF7B6B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4979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119DB-7CC0-41E7-8E8E-94FEB88D2FB7}" type="datetimeFigureOut">
              <a:rPr lang="fr-FR" smtClean="0"/>
              <a:t>22/02/2017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1132C-A312-4B74-8BC7-69F9EF7B6B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1251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119DB-7CC0-41E7-8E8E-94FEB88D2FB7}" type="datetimeFigureOut">
              <a:rPr lang="fr-FR" smtClean="0"/>
              <a:t>22/02/2017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1132C-A312-4B74-8BC7-69F9EF7B6B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9030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119DB-7CC0-41E7-8E8E-94FEB88D2FB7}" type="datetimeFigureOut">
              <a:rPr lang="fr-FR" smtClean="0"/>
              <a:t>22/02/2017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1132C-A312-4B74-8BC7-69F9EF7B6B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1735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119DB-7CC0-41E7-8E8E-94FEB88D2FB7}" type="datetimeFigureOut">
              <a:rPr lang="fr-FR" smtClean="0"/>
              <a:t>22/02/2017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1132C-A312-4B74-8BC7-69F9EF7B6B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3332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119DB-7CC0-41E7-8E8E-94FEB88D2FB7}" type="datetimeFigureOut">
              <a:rPr lang="fr-FR" smtClean="0"/>
              <a:t>22/02/2017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1132C-A312-4B74-8BC7-69F9EF7B6B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529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119DB-7CC0-41E7-8E8E-94FEB88D2FB7}" type="datetimeFigureOut">
              <a:rPr lang="fr-FR" smtClean="0"/>
              <a:t>22/02/2017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1132C-A312-4B74-8BC7-69F9EF7B6B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8094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119DB-7CC0-41E7-8E8E-94FEB88D2FB7}" type="datetimeFigureOut">
              <a:rPr lang="fr-FR" smtClean="0"/>
              <a:t>22/02/2017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D1132C-A312-4B74-8BC7-69F9EF7B6B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470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cid:image001.jpg@01CEBB9B.971824F0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774001" y="1400148"/>
            <a:ext cx="8643998" cy="3043246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fr-FR" sz="58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r>
              <a:rPr lang="fr-FR" sz="58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La relation client</a:t>
            </a: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fr-FR" sz="6400" dirty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fr-FR" sz="4000" dirty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1826" y="299057"/>
            <a:ext cx="1928826" cy="1101091"/>
          </a:xfrm>
          <a:prstGeom prst="rect">
            <a:avLst/>
          </a:prstGeom>
          <a:noFill/>
        </p:spPr>
      </p:pic>
      <p:pic>
        <p:nvPicPr>
          <p:cNvPr id="8" name="Image 7" descr="CCI nouveau logo"/>
          <p:cNvPicPr/>
          <p:nvPr/>
        </p:nvPicPr>
        <p:blipFill>
          <a:blip r:embed="rId3" r:link="rId4"/>
          <a:srcRect/>
          <a:stretch>
            <a:fillRect/>
          </a:stretch>
        </p:blipFill>
        <p:spPr bwMode="auto">
          <a:xfrm>
            <a:off x="8610600" y="4967149"/>
            <a:ext cx="2357454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289233" y="4967149"/>
            <a:ext cx="527706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Nathalie JOULIE-MORAND</a:t>
            </a:r>
          </a:p>
          <a:p>
            <a:pP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NJM Conseil Le </a:t>
            </a:r>
            <a:r>
              <a:rPr lang="fr-FR" dirty="0" err="1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Cassan</a:t>
            </a: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 12 330 Clairvaux d’Aveyron</a:t>
            </a:r>
          </a:p>
          <a:p>
            <a:pP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06 88 10 40 67</a:t>
            </a: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409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809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SOMMAIRE</a:t>
            </a:r>
            <a:endParaRPr lang="fr-FR" b="1" dirty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012055" y="1518083"/>
            <a:ext cx="9383696" cy="49359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3600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-Le client de 2018</a:t>
            </a:r>
          </a:p>
          <a:p>
            <a:pPr marL="0" indent="0">
              <a:buNone/>
            </a:pPr>
            <a:r>
              <a:rPr lang="fr-FR" sz="36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-Les enjeux de la relation client</a:t>
            </a:r>
          </a:p>
          <a:p>
            <a:pPr marL="0" indent="0">
              <a:buNone/>
            </a:pPr>
            <a:r>
              <a:rPr lang="fr-FR" sz="36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-Au cœur de la relation: les besoins du client</a:t>
            </a:r>
          </a:p>
          <a:p>
            <a:pPr marL="0" indent="0">
              <a:buNone/>
            </a:pPr>
            <a:r>
              <a:rPr lang="fr-FR" sz="36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-Typologies et comportements de client</a:t>
            </a:r>
          </a:p>
          <a:p>
            <a:pPr marL="0" indent="0">
              <a:buNone/>
            </a:pPr>
            <a:r>
              <a:rPr lang="fr-FR" sz="36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-Gérer la relation client et connaître le parcours du client</a:t>
            </a:r>
          </a:p>
          <a:p>
            <a:pPr marL="0" indent="0">
              <a:buNone/>
            </a:pPr>
            <a:r>
              <a:rPr lang="fr-FR" sz="36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-Que faire des réclamations et insatisfactions?</a:t>
            </a:r>
          </a:p>
          <a:p>
            <a:pPr marL="0" indent="0">
              <a:buNone/>
            </a:pPr>
            <a:r>
              <a:rPr lang="fr-FR" sz="36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-Que faire des satisfactions?</a:t>
            </a:r>
          </a:p>
          <a:p>
            <a:pPr marL="0" indent="0">
              <a:buNone/>
            </a:pPr>
            <a:r>
              <a:rPr lang="fr-FR" sz="36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-La gestion des situations délicates</a:t>
            </a:r>
          </a:p>
          <a:p>
            <a:pPr marL="0" indent="0">
              <a:buNone/>
            </a:pPr>
            <a:r>
              <a:rPr lang="fr-FR" sz="36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-L’après vente et la fidélisation</a:t>
            </a:r>
          </a:p>
          <a:p>
            <a:pPr marL="0" indent="0">
              <a:buNone/>
            </a:pPr>
            <a:endParaRPr lang="fr-FR" sz="36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fr-FR" sz="36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fr-FR" sz="36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fr-FR" sz="36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fr-FR" sz="36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7539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67030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996561" y="2776727"/>
            <a:ext cx="5640476" cy="1143000"/>
          </a:xfrm>
          <a:solidFill>
            <a:srgbClr val="D4D600"/>
          </a:solidFill>
        </p:spPr>
        <p:txBody>
          <a:bodyPr>
            <a:normAutofit/>
          </a:bodyPr>
          <a:lstStyle/>
          <a:p>
            <a:pPr algn="ctr"/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Le client de 2018</a:t>
            </a:r>
            <a:endParaRPr lang="fr-FR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1827" y="338578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906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652965" y="235244"/>
            <a:ext cx="488607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</a:t>
            </a: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client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781235" y="1553592"/>
            <a:ext cx="9587883" cy="4802757"/>
          </a:xfrm>
        </p:spPr>
        <p:txBody>
          <a:bodyPr>
            <a:normAutofit/>
          </a:bodyPr>
          <a:lstStyle/>
          <a:p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</a:t>
            </a: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 est 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:</a:t>
            </a: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marL="5380038" lvl="1"/>
            <a:r>
              <a:rPr lang="fr-FR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Volatile</a:t>
            </a:r>
          </a:p>
          <a:p>
            <a:pPr marL="5380038" lvl="1"/>
            <a:r>
              <a:rPr lang="fr-FR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Comparateur</a:t>
            </a:r>
          </a:p>
          <a:p>
            <a:pPr marL="5380038" lvl="1"/>
            <a:r>
              <a:rPr lang="fr-FR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Exigeant</a:t>
            </a:r>
          </a:p>
          <a:p>
            <a:pPr marL="5380038" lvl="1"/>
            <a:r>
              <a:rPr lang="fr-FR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Opportuniste</a:t>
            </a:r>
          </a:p>
          <a:p>
            <a:pPr marL="5380038" lvl="1"/>
            <a:r>
              <a:rPr lang="fr-FR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Internaute</a:t>
            </a:r>
          </a:p>
          <a:p>
            <a:pPr marL="5380038" lvl="1"/>
            <a:r>
              <a:rPr lang="fr-FR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Acheteur en ligne</a:t>
            </a:r>
          </a:p>
          <a:p>
            <a:pPr marL="5380038" lvl="1"/>
            <a:r>
              <a:rPr lang="fr-FR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Informé</a:t>
            </a:r>
          </a:p>
          <a:p>
            <a:pPr marL="5380038" lvl="1"/>
            <a:r>
              <a:rPr lang="fr-FR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Collaboratif…</a:t>
            </a: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5092" y="235244"/>
            <a:ext cx="1928826" cy="1101091"/>
          </a:xfrm>
          <a:prstGeom prst="rect">
            <a:avLst/>
          </a:prstGeom>
          <a:noFill/>
        </p:spPr>
      </p:pic>
      <p:pic>
        <p:nvPicPr>
          <p:cNvPr id="1028" name="Picture 4" descr="https://tse2.mm.bing.net/th?id=OIP.Me7f28643865c1a1970d5ba784097edd1o0&amp;pid=15.1&amp;P=0&amp;w=200&amp;h=16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256" y="2384811"/>
            <a:ext cx="4209804" cy="3388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5102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652965" y="235244"/>
            <a:ext cx="488607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</a:t>
            </a: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client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781235" y="1553592"/>
            <a:ext cx="10404629" cy="4802757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 </a:t>
            </a: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  a de nouveaux besoins 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:</a:t>
            </a: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marL="4749800" lvl="1"/>
            <a:r>
              <a:rPr lang="fr-FR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Un fonctionnement ancré socialement</a:t>
            </a:r>
          </a:p>
          <a:p>
            <a:pPr marL="4749800" lvl="1"/>
            <a:r>
              <a:rPr lang="fr-FR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Le partage</a:t>
            </a:r>
          </a:p>
          <a:p>
            <a:pPr marL="4749800" lvl="1"/>
            <a:r>
              <a:rPr lang="fr-FR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L’</a:t>
            </a:r>
            <a:r>
              <a:rPr lang="fr-FR" dirty="0" err="1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hyperconnexion</a:t>
            </a: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marL="4749800" lvl="1"/>
            <a:r>
              <a:rPr lang="fr-FR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Le divertissement</a:t>
            </a:r>
          </a:p>
          <a:p>
            <a:pPr marL="4749800" lvl="1"/>
            <a:r>
              <a:rPr lang="fr-FR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L’anonymat</a:t>
            </a:r>
          </a:p>
          <a:p>
            <a:pPr marL="4749800" lvl="1"/>
            <a:r>
              <a:rPr lang="fr-FR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De nouvelles logiques d’usage</a:t>
            </a:r>
          </a:p>
          <a:p>
            <a:pPr marL="5151438" lvl="1" indent="0">
              <a:buNone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5092" y="235244"/>
            <a:ext cx="1928826" cy="1101091"/>
          </a:xfrm>
          <a:prstGeom prst="rect">
            <a:avLst/>
          </a:prstGeom>
          <a:noFill/>
        </p:spPr>
      </p:pic>
      <p:pic>
        <p:nvPicPr>
          <p:cNvPr id="3074" name="Picture 2" descr="https://tse3.mm.bing.net/th?id=OIP.M5dd037e1a2e51d31efe212441883aa3bo0&amp;pid=15.1&amp;P=0&amp;w=333&amp;h=16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5" y="2636668"/>
            <a:ext cx="4375580" cy="2187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636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652965" y="235244"/>
            <a:ext cx="488607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</a:t>
            </a: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client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232485" y="1523429"/>
            <a:ext cx="10404629" cy="4802757"/>
          </a:xfrm>
        </p:spPr>
        <p:txBody>
          <a:bodyPr>
            <a:normAutofit/>
          </a:bodyPr>
          <a:lstStyle/>
          <a:p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 Le SO-LO-MO*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:</a:t>
            </a: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marL="1290638" lvl="1" indent="-571500">
              <a:buFont typeface="Wingdings" panose="05000000000000000000" pitchFamily="2" charset="2"/>
              <a:buChar char="§"/>
            </a:pPr>
            <a:r>
              <a:rPr lang="fr-FR" sz="4000" b="1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SO</a:t>
            </a:r>
            <a:r>
              <a:rPr lang="fr-FR" sz="4000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: Social</a:t>
            </a:r>
          </a:p>
          <a:p>
            <a:pPr marL="1290638" lvl="1" indent="-571500">
              <a:buFont typeface="Wingdings" panose="05000000000000000000" pitchFamily="2" charset="2"/>
              <a:buChar char="§"/>
            </a:pPr>
            <a:r>
              <a:rPr lang="fr-FR" sz="4000" b="1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LO</a:t>
            </a:r>
            <a:r>
              <a:rPr lang="fr-FR" sz="4000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: Local</a:t>
            </a:r>
          </a:p>
          <a:p>
            <a:pPr marL="1290638" lvl="1" indent="-571500">
              <a:buFont typeface="Wingdings" panose="05000000000000000000" pitchFamily="2" charset="2"/>
              <a:buChar char="§"/>
            </a:pPr>
            <a:r>
              <a:rPr lang="fr-FR" sz="4000" b="1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MO</a:t>
            </a:r>
            <a:r>
              <a:rPr lang="fr-FR" sz="4000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: Mobile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5092" y="235244"/>
            <a:ext cx="1928826" cy="1101091"/>
          </a:xfrm>
          <a:prstGeom prst="rect">
            <a:avLst/>
          </a:prstGeom>
          <a:noFill/>
        </p:spPr>
      </p:pic>
      <p:sp>
        <p:nvSpPr>
          <p:cNvPr id="2" name="ZoneTexte 1"/>
          <p:cNvSpPr txBox="1"/>
          <p:nvPr/>
        </p:nvSpPr>
        <p:spPr>
          <a:xfrm>
            <a:off x="2061344" y="5971937"/>
            <a:ext cx="223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* Etude Nielsen</a:t>
            </a:r>
            <a:endParaRPr lang="fr-FR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 descr="https://tse2.mm.bing.net/th?id=OIP.Ma2c89e2b901210d3a15f90cc49423b6do0&amp;pid=15.1&amp;P=0&amp;w=248&amp;h=16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8478" y="2319941"/>
            <a:ext cx="5550302" cy="3580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35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738414" y="2786058"/>
            <a:ext cx="7749194" cy="1143000"/>
          </a:xfrm>
          <a:solidFill>
            <a:srgbClr val="D4D600"/>
          </a:solidFill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Les </a:t>
            </a:r>
            <a:r>
              <a:rPr lang="fr-FR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enjeux de la relation client</a:t>
            </a:r>
            <a:endParaRPr lang="fr-FR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1827" y="338578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8277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652965" y="235244"/>
            <a:ext cx="4886070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 </a:t>
            </a: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Les </a:t>
            </a: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enjeux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781235" y="1553592"/>
            <a:ext cx="9587883" cy="4802757"/>
          </a:xfrm>
        </p:spPr>
        <p:txBody>
          <a:bodyPr>
            <a:normAutofit/>
          </a:bodyPr>
          <a:lstStyle/>
          <a:p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La 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relation client 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:</a:t>
            </a: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r>
              <a:rPr lang="fr-FR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C’est la gestion des interactions avec le client sur l’ensemble des canaux de contacts disponibles (internet, boutique, stand sur salon, marché…)</a:t>
            </a:r>
          </a:p>
          <a:p>
            <a:pPr lvl="1"/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ATTENTION: </a:t>
            </a:r>
            <a:r>
              <a:rPr lang="fr-FR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la relation client ne doit pas</a:t>
            </a:r>
          </a:p>
          <a:p>
            <a:pPr marL="457200" lvl="1" indent="0">
              <a:buNone/>
            </a:pPr>
            <a:r>
              <a:rPr lang="fr-FR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 être restreinte au seul service client!</a:t>
            </a: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5092" y="235244"/>
            <a:ext cx="1928826" cy="1101091"/>
          </a:xfrm>
          <a:prstGeom prst="rect">
            <a:avLst/>
          </a:prstGeom>
          <a:noFill/>
        </p:spPr>
      </p:pic>
      <p:pic>
        <p:nvPicPr>
          <p:cNvPr id="2" name="Picture 2" descr="https://tse4.mm.bing.net/th?id=OIP.owNv7r4964iNhz8N7xmVjAEsEs&amp;pid=15.1&amp;P=0&amp;w=300&amp;h=3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3959" y="354755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7856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652965" y="235244"/>
            <a:ext cx="4886070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 </a:t>
            </a: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Les </a:t>
            </a: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enjeux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781235" y="1553592"/>
            <a:ext cx="9587883" cy="4802757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 Le constat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:</a:t>
            </a: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1"/>
            <a:r>
              <a:rPr lang="fr-FR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70% des consommateurs cessent d’acheter les produits-services d’une marque après une expérience décevante.</a:t>
            </a:r>
          </a:p>
          <a:p>
            <a:pPr lvl="1"/>
            <a:r>
              <a:rPr lang="fr-FR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52% des consommateurs pensent, qu’en 5 ans, leurs attentes en matière de service client se sont intensifiées.</a:t>
            </a: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5092" y="235244"/>
            <a:ext cx="1928826" cy="1101091"/>
          </a:xfrm>
          <a:prstGeom prst="rect">
            <a:avLst/>
          </a:prstGeom>
          <a:noFill/>
        </p:spPr>
      </p:pic>
      <p:pic>
        <p:nvPicPr>
          <p:cNvPr id="5122" name="Picture 2" descr="https://tse1.mm.bing.net/th?id=OIP.So847a252RD5fFGDWaRZSgEsCI&amp;pid=15.1&amp;P=0&amp;w=414&amp;h=18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5688" y="4049976"/>
            <a:ext cx="5087582" cy="2306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9370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054281" y="235244"/>
            <a:ext cx="4512845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 Les enjeux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781235" y="1553592"/>
            <a:ext cx="9587883" cy="4802757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 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Les réponses de la relation client:</a:t>
            </a: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r>
              <a:rPr lang="fr-FR" sz="3200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Elle vise à sortir le client de sa logique de comparaison permanente.</a:t>
            </a:r>
          </a:p>
          <a:p>
            <a:pPr lvl="1"/>
            <a:r>
              <a:rPr lang="fr-FR" sz="3200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Elle permet à l’entreprise, à son enseigne, de se différencier.</a:t>
            </a:r>
          </a:p>
          <a:p>
            <a:pPr lvl="1"/>
            <a:r>
              <a:rPr lang="fr-FR" sz="3200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Elle va au-delà de la simple satisfaction client.</a:t>
            </a:r>
          </a:p>
          <a:p>
            <a:pPr lvl="2"/>
            <a:endParaRPr lang="fr-FR" sz="2800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marL="914400" lvl="2" indent="0">
              <a:buNone/>
            </a:pPr>
            <a:r>
              <a:rPr lang="fr-FR" sz="28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ATTENTION:</a:t>
            </a:r>
            <a:r>
              <a:rPr lang="fr-FR" sz="2800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 satisfaction n’est pas fidélisation!</a:t>
            </a:r>
            <a:endParaRPr lang="fr-FR" sz="2800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5092" y="235244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31889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116063" y="214289"/>
            <a:ext cx="5202314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 </a:t>
            </a: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Les </a:t>
            </a: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enjeux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781235" y="1553592"/>
            <a:ext cx="9587883" cy="4802757"/>
          </a:xfrm>
        </p:spPr>
        <p:txBody>
          <a:bodyPr>
            <a:normAutofit/>
          </a:bodyPr>
          <a:lstStyle/>
          <a:p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3- 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cercle vertueux :</a:t>
            </a: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5092" y="235244"/>
            <a:ext cx="1928826" cy="1101091"/>
          </a:xfrm>
          <a:prstGeom prst="rect">
            <a:avLst/>
          </a:prstGeom>
          <a:noFill/>
        </p:spPr>
      </p:pic>
      <p:sp>
        <p:nvSpPr>
          <p:cNvPr id="2" name="AutoShape 2" descr="https://tse2.mm.bing.net/th?id=OIP.IIjzE2IlWakmmKyx6HTbgQEqEs&amp;pid=15.1&amp;P=0&amp;w=300&amp;h=300"/>
          <p:cNvSpPr>
            <a:spLocks noChangeAspect="1" noChangeArrowheads="1"/>
          </p:cNvSpPr>
          <p:nvPr/>
        </p:nvSpPr>
        <p:spPr bwMode="auto">
          <a:xfrm>
            <a:off x="-859351" y="61888"/>
            <a:ext cx="1274443" cy="1274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6148" name="Picture 4" descr="https://tse2.mm.bing.net/th?id=OIP.IIjzE2IlWakmmKyx6HTbgQEqEs&amp;pid=15.1&amp;P=0&amp;w=300&amp;h=3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066469"/>
            <a:ext cx="4261280" cy="428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9957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90654" y="2786058"/>
            <a:ext cx="7155188" cy="1143000"/>
          </a:xfrm>
          <a:solidFill>
            <a:srgbClr val="D4D600"/>
          </a:solidFill>
        </p:spPr>
        <p:txBody>
          <a:bodyPr>
            <a:normAutofit/>
          </a:bodyPr>
          <a:lstStyle/>
          <a:p>
            <a:pPr algn="ctr"/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Les besoins du client</a:t>
            </a:r>
            <a:endParaRPr lang="fr-FR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1827" y="338578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85106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931094" y="256199"/>
            <a:ext cx="7180572" cy="114408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</a:t>
            </a: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 Les besoins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102310" y="1786344"/>
            <a:ext cx="8787414" cy="42687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40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Exercice </a:t>
            </a:r>
            <a:r>
              <a:rPr lang="fr-FR" sz="40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fr-FR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	</a:t>
            </a:r>
          </a:p>
          <a:p>
            <a:pPr>
              <a:buClr>
                <a:srgbClr val="E2007A"/>
              </a:buClr>
              <a:buNone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Clr>
                <a:srgbClr val="D4D600"/>
              </a:buClr>
              <a:buFont typeface="Wingdings" pitchFamily="2" charset="2"/>
              <a:buChar char="§"/>
            </a:pPr>
            <a:r>
              <a:rPr lang="fr-FR" sz="3600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3600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Décrivez votre client type : </a:t>
            </a:r>
          </a:p>
          <a:p>
            <a:pPr marL="1371600" lvl="3" indent="0">
              <a:buClr>
                <a:srgbClr val="D4D600"/>
              </a:buClr>
              <a:buNone/>
            </a:pPr>
            <a:r>
              <a:rPr lang="fr-FR" sz="3600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fr-FR" sz="3600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profil, sexe, </a:t>
            </a:r>
            <a:r>
              <a:rPr lang="fr-FR" sz="3600" dirty="0" err="1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Csp</a:t>
            </a:r>
            <a:r>
              <a:rPr lang="fr-FR" sz="3600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, origine, 	culture…</a:t>
            </a:r>
            <a:endParaRPr lang="fr-FR" sz="3600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0805" y="256199"/>
            <a:ext cx="1928826" cy="1101091"/>
          </a:xfrm>
          <a:prstGeom prst="rect">
            <a:avLst/>
          </a:prstGeom>
          <a:noFill/>
        </p:spPr>
      </p:pic>
      <p:sp>
        <p:nvSpPr>
          <p:cNvPr id="8" name="Flèche droite 7"/>
          <p:cNvSpPr/>
          <p:nvPr/>
        </p:nvSpPr>
        <p:spPr>
          <a:xfrm>
            <a:off x="1613246" y="2947009"/>
            <a:ext cx="714380" cy="428628"/>
          </a:xfrm>
          <a:prstGeom prst="rightArrow">
            <a:avLst/>
          </a:prstGeom>
          <a:solidFill>
            <a:srgbClr val="D4D600"/>
          </a:solidFill>
          <a:ln>
            <a:solidFill>
              <a:srgbClr val="D4D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170" name="Picture 2" descr="https://tse3.mm.bing.net/th?id=OIP.Mcd86abffb52cd51f94e17ed7614b7a30H0&amp;pid=15.1&amp;P=0&amp;w=300&amp;h=3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2899" y="2800904"/>
            <a:ext cx="25336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470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931094" y="256199"/>
            <a:ext cx="7180572" cy="114408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</a:t>
            </a: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 </a:t>
            </a: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Les besoins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102310" y="1786344"/>
            <a:ext cx="7508290" cy="42687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40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Exercice </a:t>
            </a:r>
            <a:r>
              <a:rPr lang="fr-FR" sz="40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fr-FR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	</a:t>
            </a:r>
          </a:p>
          <a:p>
            <a:pPr>
              <a:buClr>
                <a:srgbClr val="E2007A"/>
              </a:buClr>
              <a:buNone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Clr>
                <a:srgbClr val="D4D600"/>
              </a:buClr>
              <a:buFont typeface="Wingdings" pitchFamily="2" charset="2"/>
              <a:buChar char="§"/>
            </a:pPr>
            <a:r>
              <a:rPr lang="fr-FR" sz="3600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3600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Décrivez les besoins de</a:t>
            </a:r>
          </a:p>
          <a:p>
            <a:pPr marL="1371600" lvl="3" indent="0">
              <a:buClr>
                <a:srgbClr val="D4D600"/>
              </a:buClr>
              <a:buNone/>
            </a:pPr>
            <a:r>
              <a:rPr lang="fr-FR" sz="3600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fr-FR" sz="3600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votre client : produit,</a:t>
            </a:r>
          </a:p>
          <a:p>
            <a:pPr marL="1371600" lvl="3" indent="0">
              <a:buClr>
                <a:srgbClr val="D4D600"/>
              </a:buClr>
              <a:buNone/>
            </a:pPr>
            <a:r>
              <a:rPr lang="fr-FR" sz="3600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fr-FR" sz="3600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service, praticité, confort, 	relation…</a:t>
            </a:r>
          </a:p>
          <a:p>
            <a:pPr marL="1371600" lvl="3" indent="0">
              <a:buClr>
                <a:srgbClr val="D4D600"/>
              </a:buClr>
              <a:buNone/>
            </a:pPr>
            <a:r>
              <a:rPr lang="fr-FR" sz="3600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	</a:t>
            </a:r>
            <a:endParaRPr lang="fr-FR" sz="3600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0805" y="256199"/>
            <a:ext cx="1928826" cy="1101091"/>
          </a:xfrm>
          <a:prstGeom prst="rect">
            <a:avLst/>
          </a:prstGeom>
          <a:noFill/>
        </p:spPr>
      </p:pic>
      <p:sp>
        <p:nvSpPr>
          <p:cNvPr id="8" name="Flèche droite 7"/>
          <p:cNvSpPr/>
          <p:nvPr/>
        </p:nvSpPr>
        <p:spPr>
          <a:xfrm>
            <a:off x="1613246" y="2947009"/>
            <a:ext cx="714380" cy="428628"/>
          </a:xfrm>
          <a:prstGeom prst="rightArrow">
            <a:avLst/>
          </a:prstGeom>
          <a:solidFill>
            <a:srgbClr val="D4D600"/>
          </a:solidFill>
          <a:ln>
            <a:solidFill>
              <a:srgbClr val="D4D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194" name="Picture 2" descr="https://tse4.mm.bing.net/th?id=OIP.M31f504e4095a6232c648338e0ee0d9f9o0&amp;pid=15.1&amp;P=0&amp;w=300&amp;h=3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2947009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282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398</Words>
  <Application>Microsoft Office PowerPoint</Application>
  <PresentationFormat>Grand écran</PresentationFormat>
  <Paragraphs>135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Thème Office</vt:lpstr>
      <vt:lpstr>Présentation PowerPoint</vt:lpstr>
      <vt:lpstr>SOMMAIRE</vt:lpstr>
      <vt:lpstr> Le client de 2018</vt:lpstr>
      <vt:lpstr>A- Le client</vt:lpstr>
      <vt:lpstr>A- Le client</vt:lpstr>
      <vt:lpstr>A- Le client</vt:lpstr>
      <vt:lpstr> Les enjeux de la relation client</vt:lpstr>
      <vt:lpstr>B- Les enjeux</vt:lpstr>
      <vt:lpstr>B- Les enjeux</vt:lpstr>
      <vt:lpstr>B- Les enjeux</vt:lpstr>
      <vt:lpstr>B- Les enjeux</vt:lpstr>
      <vt:lpstr> Les besoins du client</vt:lpstr>
      <vt:lpstr>C- Les besoins</vt:lpstr>
      <vt:lpstr>C- Les besoins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nathalie joulie morand</dc:creator>
  <cp:lastModifiedBy>nathalie joulie morand</cp:lastModifiedBy>
  <cp:revision>26</cp:revision>
  <dcterms:created xsi:type="dcterms:W3CDTF">2017-02-21T18:51:08Z</dcterms:created>
  <dcterms:modified xsi:type="dcterms:W3CDTF">2017-02-22T15:40:53Z</dcterms:modified>
</cp:coreProperties>
</file>