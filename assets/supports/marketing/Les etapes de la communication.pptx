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09" r:id="rId3"/>
    <p:sldId id="278" r:id="rId4"/>
    <p:sldId id="257" r:id="rId5"/>
    <p:sldId id="259" r:id="rId6"/>
    <p:sldId id="260" r:id="rId7"/>
    <p:sldId id="348" r:id="rId8"/>
    <p:sldId id="349" r:id="rId9"/>
    <p:sldId id="350" r:id="rId10"/>
    <p:sldId id="351" r:id="rId11"/>
    <p:sldId id="352" r:id="rId12"/>
    <p:sldId id="319" r:id="rId13"/>
    <p:sldId id="262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33" r:id="rId22"/>
    <p:sldId id="327" r:id="rId23"/>
    <p:sldId id="329" r:id="rId24"/>
    <p:sldId id="334" r:id="rId25"/>
    <p:sldId id="331" r:id="rId26"/>
    <p:sldId id="330" r:id="rId27"/>
    <p:sldId id="335" r:id="rId28"/>
    <p:sldId id="336" r:id="rId29"/>
    <p:sldId id="340" r:id="rId30"/>
    <p:sldId id="273" r:id="rId31"/>
    <p:sldId id="337" r:id="rId32"/>
    <p:sldId id="338" r:id="rId33"/>
    <p:sldId id="344" r:id="rId34"/>
    <p:sldId id="339" r:id="rId35"/>
    <p:sldId id="341" r:id="rId36"/>
    <p:sldId id="342" r:id="rId37"/>
    <p:sldId id="343" r:id="rId38"/>
    <p:sldId id="345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46" r:id="rId48"/>
    <p:sldId id="301" r:id="rId49"/>
    <p:sldId id="302" r:id="rId50"/>
    <p:sldId id="261" r:id="rId51"/>
    <p:sldId id="316" r:id="rId52"/>
    <p:sldId id="303" r:id="rId53"/>
    <p:sldId id="304" r:id="rId54"/>
    <p:sldId id="347" r:id="rId55"/>
    <p:sldId id="314" r:id="rId5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D0F"/>
    <a:srgbClr val="E2007A"/>
    <a:srgbClr val="D4D600"/>
    <a:srgbClr val="9311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4660"/>
  </p:normalViewPr>
  <p:slideViewPr>
    <p:cSldViewPr>
      <p:cViewPr varScale="1">
        <p:scale>
          <a:sx n="81" d="100"/>
          <a:sy n="81" d="100"/>
        </p:scale>
        <p:origin x="14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DB25-55EB-472D-8B07-AF81CF403AB0}" type="datetimeFigureOut">
              <a:rPr lang="fr-FR" smtClean="0"/>
              <a:pPr/>
              <a:t>10/10/2017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A461-29CF-4583-A100-9C757AF6BFA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95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86%</a:t>
            </a:r>
            <a:r>
              <a:rPr lang="fr-FR" baseline="0" dirty="0" smtClean="0"/>
              <a:t> des jeunes français souhaitent dialoguer avec les marques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662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86%</a:t>
            </a:r>
            <a:r>
              <a:rPr lang="fr-FR" baseline="0" dirty="0" smtClean="0"/>
              <a:t> des jeunes français souhaitent dialoguer avec les marques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1567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395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730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866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583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617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Objectif cible organisation interne/temps </a:t>
            </a:r>
            <a:r>
              <a:rPr lang="fr-FR" smtClean="0"/>
              <a:t>budget contenus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611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840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540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Widget</a:t>
            </a:r>
            <a:r>
              <a:rPr lang="fr-FR" dirty="0" smtClean="0"/>
              <a:t>:</a:t>
            </a:r>
            <a:r>
              <a:rPr lang="fr-FR" baseline="0" dirty="0" smtClean="0"/>
              <a:t> mini logiciel interactif qui </a:t>
            </a:r>
            <a:r>
              <a:rPr lang="fr-FR" dirty="0" smtClean="0"/>
              <a:t>propose habituellement des informations ou des divertissements. Cours de la bourse, jeux </a:t>
            </a:r>
            <a:r>
              <a:rPr lang="fr-FR" dirty="0" err="1" smtClean="0"/>
              <a:t>video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161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Widget</a:t>
            </a:r>
            <a:r>
              <a:rPr lang="fr-FR" dirty="0" smtClean="0"/>
              <a:t>:</a:t>
            </a:r>
            <a:r>
              <a:rPr lang="fr-FR" baseline="0" dirty="0" smtClean="0"/>
              <a:t> mini logiciel interactif qui </a:t>
            </a:r>
            <a:r>
              <a:rPr lang="fr-FR" dirty="0" smtClean="0"/>
              <a:t>propose habituellement des informations ou des divertissements. Cours de la bourse, jeux </a:t>
            </a:r>
            <a:r>
              <a:rPr lang="fr-FR" dirty="0" err="1" smtClean="0"/>
              <a:t>video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72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485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SEM: </a:t>
            </a:r>
            <a:r>
              <a:rPr lang="fr-FR" dirty="0" err="1" smtClean="0"/>
              <a:t>search</a:t>
            </a:r>
            <a:r>
              <a:rPr lang="fr-FR" dirty="0" smtClean="0"/>
              <a:t> </a:t>
            </a:r>
            <a:r>
              <a:rPr lang="fr-FR" dirty="0" err="1" smtClean="0"/>
              <a:t>engine</a:t>
            </a:r>
            <a:r>
              <a:rPr lang="fr-FR" dirty="0" smtClean="0"/>
              <a:t> </a:t>
            </a:r>
            <a:r>
              <a:rPr lang="fr-FR" dirty="0" err="1" smtClean="0"/>
              <a:t>mkg</a:t>
            </a:r>
            <a:r>
              <a:rPr lang="fr-FR" dirty="0" smtClean="0"/>
              <a:t>, campagnes achat mots clés</a:t>
            </a:r>
          </a:p>
          <a:p>
            <a:r>
              <a:rPr lang="fr-FR" dirty="0" smtClean="0"/>
              <a:t>SEO: </a:t>
            </a:r>
            <a:r>
              <a:rPr lang="fr-FR" dirty="0" err="1" smtClean="0"/>
              <a:t>search</a:t>
            </a:r>
            <a:r>
              <a:rPr lang="fr-FR" dirty="0" smtClean="0"/>
              <a:t> </a:t>
            </a:r>
            <a:r>
              <a:rPr lang="fr-FR" dirty="0" err="1" smtClean="0"/>
              <a:t>engine</a:t>
            </a:r>
            <a:r>
              <a:rPr lang="fr-FR" dirty="0" smtClean="0"/>
              <a:t> </a:t>
            </a:r>
            <a:r>
              <a:rPr lang="fr-FR" dirty="0" err="1" smtClean="0"/>
              <a:t>optimization</a:t>
            </a:r>
            <a:r>
              <a:rPr lang="fr-FR" dirty="0" smtClean="0"/>
              <a:t>, </a:t>
            </a:r>
            <a:r>
              <a:rPr lang="fr-FR" dirty="0" err="1" smtClean="0"/>
              <a:t>ref</a:t>
            </a:r>
            <a:r>
              <a:rPr lang="fr-FR" dirty="0" smtClean="0"/>
              <a:t> naturel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849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Search</a:t>
            </a:r>
            <a:r>
              <a:rPr lang="fr-FR" dirty="0" smtClean="0"/>
              <a:t>: référencement;</a:t>
            </a:r>
            <a:r>
              <a:rPr lang="fr-FR" baseline="0" dirty="0" smtClean="0"/>
              <a:t> Partenariats: synergie entre </a:t>
            </a:r>
            <a:r>
              <a:rPr lang="fr-FR" baseline="0" dirty="0" err="1" smtClean="0"/>
              <a:t>pls</a:t>
            </a:r>
            <a:r>
              <a:rPr lang="fr-FR" baseline="0" dirty="0" smtClean="0"/>
              <a:t> marques; E-</a:t>
            </a:r>
            <a:r>
              <a:rPr lang="fr-FR" baseline="0" dirty="0" err="1" smtClean="0"/>
              <a:t>reputation</a:t>
            </a:r>
            <a:r>
              <a:rPr lang="fr-FR" baseline="0" dirty="0" smtClean="0"/>
              <a:t>: parler de nous via blog, forum, presse; E-mailing; Display: pub interactive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190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009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SEM: </a:t>
            </a:r>
            <a:r>
              <a:rPr lang="fr-FR" dirty="0" err="1" smtClean="0"/>
              <a:t>search</a:t>
            </a:r>
            <a:r>
              <a:rPr lang="fr-FR" dirty="0" smtClean="0"/>
              <a:t> </a:t>
            </a:r>
            <a:r>
              <a:rPr lang="fr-FR" dirty="0" err="1" smtClean="0"/>
              <a:t>engine</a:t>
            </a:r>
            <a:r>
              <a:rPr lang="fr-FR" dirty="0" smtClean="0"/>
              <a:t> </a:t>
            </a:r>
            <a:r>
              <a:rPr lang="fr-FR" dirty="0" err="1" smtClean="0"/>
              <a:t>mkg</a:t>
            </a:r>
            <a:r>
              <a:rPr lang="fr-FR" dirty="0" smtClean="0"/>
              <a:t>, campagnes achat mots clés</a:t>
            </a:r>
          </a:p>
          <a:p>
            <a:r>
              <a:rPr lang="fr-FR" dirty="0" smtClean="0"/>
              <a:t>SEO: </a:t>
            </a:r>
            <a:r>
              <a:rPr lang="fr-FR" dirty="0" err="1" smtClean="0"/>
              <a:t>search</a:t>
            </a:r>
            <a:r>
              <a:rPr lang="fr-FR" dirty="0" smtClean="0"/>
              <a:t> </a:t>
            </a:r>
            <a:r>
              <a:rPr lang="fr-FR" dirty="0" err="1" smtClean="0"/>
              <a:t>engine</a:t>
            </a:r>
            <a:r>
              <a:rPr lang="fr-FR" dirty="0" smtClean="0"/>
              <a:t> </a:t>
            </a:r>
            <a:r>
              <a:rPr lang="fr-FR" dirty="0" err="1" smtClean="0"/>
              <a:t>optimization</a:t>
            </a:r>
            <a:r>
              <a:rPr lang="fr-FR" dirty="0" smtClean="0"/>
              <a:t>, </a:t>
            </a:r>
            <a:r>
              <a:rPr lang="fr-FR" dirty="0" err="1" smtClean="0"/>
              <a:t>ref</a:t>
            </a:r>
            <a:r>
              <a:rPr lang="fr-FR" dirty="0" smtClean="0"/>
              <a:t> naturel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291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Attention aux clients du circuit traditionnel!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251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Attention aux clients du circuit traditionnel!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686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 SOCIAL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les internautes utilisent les plates-formes sociales pour partager les bon plans, interagir sur un sujet et conseiller leurs amis. Ils sont 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constamment connectés.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 LOCAL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après avoir communiqué avec le reste du monde, les internautes veulent désormais savoir ce qui se passe à côté de chez eux et profiter de réductions exclusives provenant des commerçants. La 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 sur le point de vente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reprend de l’importance.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 MOBILE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les internautes se connectent de plus en plus sur internet via leur téléphone mobile (et plus rarement leurs tablettes tactiles). Ils ont l’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outil constamment avec eux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en sont devenus dépendants.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45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A5F6-5D02-4672-92E3-CDE56371D971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AFFA-6257-4970-82D8-A6C805899C9D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FB05-901D-4921-8A64-3AEBF7820156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53CC7-8A61-4E5D-92E5-E8AABE5A2EE7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38C5-E2A4-4A73-AAEB-6C59E93FE46F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1288-5FAF-442B-993A-07438DEBE7FD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DF1-845C-40AE-9586-CA470B3271BF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89FE-3355-4CEA-8D36-3B19D2C3D317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9672-4337-4698-8D7C-B82DC3C18DBD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A144-BD82-4F67-8B0F-DBF01102429E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1500-D00B-4AF4-B5B4-1FAB4B1266C3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669E-A44D-49CA-9E5C-C2D471D984C4}" type="datetime1">
              <a:rPr lang="fr-FR" smtClean="0"/>
              <a:pPr/>
              <a:t>10/10/2017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NJM Conseil - njm.conseil@orange.fr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3043246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endParaRPr lang="fr-FR" sz="58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fr-FR" sz="58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fr-FR" sz="216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COMMENT BIEN COMMUNIQUER POUR MIEUX VENDRE?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64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sz="64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</a:t>
            </a:r>
            <a:r>
              <a:rPr lang="fr-FR" sz="6400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Cassan</a:t>
            </a:r>
            <a:r>
              <a:rPr lang="fr-FR" sz="64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12 330 Clairvaux d’Aveyron</a:t>
            </a:r>
          </a:p>
          <a:p>
            <a:pPr>
              <a:buNone/>
            </a:pPr>
            <a:r>
              <a:rPr lang="fr-FR" sz="64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</a:t>
            </a: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4000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71604" y="2786058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Comment ça marche?</a:t>
            </a: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4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EMETTEUR                        </a:t>
            </a:r>
            <a:r>
              <a:rPr lang="fr-FR" sz="24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RECEPTEUR</a:t>
            </a:r>
          </a:p>
          <a:p>
            <a:pPr>
              <a:buNone/>
            </a:pPr>
            <a:endParaRPr lang="fr-FR" sz="2400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S’adapter à son récepteur</a:t>
            </a:r>
          </a:p>
          <a:p>
            <a:pPr lvl="2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 support</a:t>
            </a:r>
          </a:p>
          <a:p>
            <a:pPr lvl="2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 message</a:t>
            </a:r>
          </a:p>
          <a:p>
            <a:pPr lvl="2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-l’objectif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Sourire 7"/>
          <p:cNvSpPr/>
          <p:nvPr/>
        </p:nvSpPr>
        <p:spPr>
          <a:xfrm>
            <a:off x="1643042" y="2357430"/>
            <a:ext cx="914400" cy="914400"/>
          </a:xfrm>
          <a:prstGeom prst="smileyFace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Sourire 8"/>
          <p:cNvSpPr/>
          <p:nvPr/>
        </p:nvSpPr>
        <p:spPr>
          <a:xfrm>
            <a:off x="5500694" y="2357430"/>
            <a:ext cx="914400" cy="914400"/>
          </a:xfrm>
          <a:prstGeom prst="smileyFace">
            <a:avLst/>
          </a:prstGeom>
          <a:noFill/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>
            <a:off x="3000364" y="2714620"/>
            <a:ext cx="2071702" cy="357190"/>
          </a:xfrm>
          <a:prstGeom prst="rightArrow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8" name="ZoneTexte 17"/>
          <p:cNvSpPr txBox="1"/>
          <p:nvPr/>
        </p:nvSpPr>
        <p:spPr>
          <a:xfrm>
            <a:off x="857224" y="2000240"/>
            <a:ext cx="73581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Différents types de communication:</a:t>
            </a:r>
          </a:p>
          <a:p>
            <a:endParaRPr lang="fr-FR" sz="28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-institutionnelle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-de marque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-d’enseigne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-produit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-interne</a:t>
            </a:r>
            <a:endParaRPr lang="fr-FR" sz="2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928802"/>
            <a:ext cx="8229600" cy="3543312"/>
          </a:xfrm>
        </p:spPr>
        <p:txBody>
          <a:bodyPr/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Emergence du marketing relationnel ou one to one: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Segmentation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Adaptation aux besoins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Offre et communication adaptées</a:t>
            </a: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2143116"/>
            <a:ext cx="8229600" cy="3983047"/>
          </a:xfrm>
        </p:spPr>
        <p:txBody>
          <a:bodyPr/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Exemple Yves Rocher</a:t>
            </a:r>
          </a:p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Exemple Black Berry</a:t>
            </a:r>
          </a:p>
          <a:p>
            <a:pPr lvl="1">
              <a:buNone/>
            </a:pPr>
            <a:endParaRPr lang="fr-FR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71604" y="2786058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516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Comment ça marche?</a:t>
            </a: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4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EMETTEUR                        </a:t>
            </a:r>
            <a:r>
              <a:rPr lang="fr-FR" sz="24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RECEPTEUR</a:t>
            </a:r>
          </a:p>
          <a:p>
            <a:pPr>
              <a:buNone/>
            </a:pPr>
            <a:endParaRPr lang="fr-FR" sz="2400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S’adapter à son récepteur</a:t>
            </a:r>
          </a:p>
          <a:p>
            <a:pPr lvl="2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 support</a:t>
            </a:r>
          </a:p>
          <a:p>
            <a:pPr lvl="2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 message</a:t>
            </a:r>
          </a:p>
          <a:p>
            <a:pPr lvl="2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-l’objectif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Sourire 7"/>
          <p:cNvSpPr/>
          <p:nvPr/>
        </p:nvSpPr>
        <p:spPr>
          <a:xfrm>
            <a:off x="1643042" y="2357430"/>
            <a:ext cx="914400" cy="914400"/>
          </a:xfrm>
          <a:prstGeom prst="smileyFace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Sourire 8"/>
          <p:cNvSpPr/>
          <p:nvPr/>
        </p:nvSpPr>
        <p:spPr>
          <a:xfrm>
            <a:off x="5500694" y="2357430"/>
            <a:ext cx="914400" cy="914400"/>
          </a:xfrm>
          <a:prstGeom prst="smileyFace">
            <a:avLst/>
          </a:prstGeom>
          <a:noFill/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>
            <a:off x="3000364" y="2714620"/>
            <a:ext cx="2071702" cy="357190"/>
          </a:xfrm>
          <a:prstGeom prst="rightArrow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281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8" name="ZoneTexte 17"/>
          <p:cNvSpPr txBox="1"/>
          <p:nvPr/>
        </p:nvSpPr>
        <p:spPr>
          <a:xfrm>
            <a:off x="857224" y="2000240"/>
            <a:ext cx="73581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Différents types de communication:</a:t>
            </a:r>
          </a:p>
          <a:p>
            <a:endParaRPr lang="fr-FR" sz="28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-institutionnelle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-de marque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-d’enseigne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-produit</a:t>
            </a:r>
          </a:p>
          <a:p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-interne</a:t>
            </a:r>
            <a:endParaRPr lang="fr-FR" sz="2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93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928802"/>
            <a:ext cx="8229600" cy="3543312"/>
          </a:xfrm>
        </p:spPr>
        <p:txBody>
          <a:bodyPr/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Emergence du marketing relationnel ou one to one: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Segmentation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Adaptation aux besoins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Offre et communication adaptées</a:t>
            </a: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73307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La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2143116"/>
            <a:ext cx="8229600" cy="3983047"/>
          </a:xfrm>
        </p:spPr>
        <p:txBody>
          <a:bodyPr/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Exemple Yves Rocher</a:t>
            </a:r>
          </a:p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Exemple Black Berry</a:t>
            </a:r>
          </a:p>
          <a:p>
            <a:pPr lvl="1">
              <a:buNone/>
            </a:pPr>
            <a:endParaRPr lang="fr-FR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316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71604" y="2786058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Connaître son marché: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1-1 Ses tendances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 poids, évolution, cycle de vie des produits...</a:t>
            </a:r>
          </a:p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-poids: 2 milliards d’€ en 2007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-progression de 10.4% en 2007, avec stagnation en 2008 et 2009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-marché porteur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-marché ancien mais bénéficiant d’innovations régulières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Connaître son marché: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1-2 L’offre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 amont, aval, acteurs, parts de marché, tendances, produits, services, innovations...</a:t>
            </a:r>
          </a:p>
          <a:p>
            <a:pPr lvl="1">
              <a:buClr>
                <a:srgbClr val="E2007A"/>
              </a:buClr>
              <a:buNone/>
            </a:pPr>
            <a:endParaRPr lang="fr-FR" sz="2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-4 principaux fabricants: Schmidt, Fournier, Lapeyre, MVM Manufacture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-montée en puissance des fabricants allemands: 48% de leur production vers la France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500034" y="478632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AMONT</a:t>
            </a:r>
            <a:endParaRPr lang="fr-FR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-les distributeurs: les spécialistes cuisine (leader avec 39% des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pdm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), les multi spécialistes (challengers avec 12%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pdm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), les enseignes du jeune habitat (11%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pdm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), les GSS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électro-ménager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et bricolage (12%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pdm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), les artisans indépendants (6%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pdm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-Cuisine +,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Mobalpa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, La Cornue...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-Ikea,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Conforama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428596" y="342900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AVAL</a:t>
            </a:r>
            <a:endParaRPr lang="fr-FR" b="1" dirty="0">
              <a:solidFill>
                <a:srgbClr val="E2007A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00034" y="4000504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ACTEURS</a:t>
            </a:r>
            <a:endParaRPr lang="fr-FR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 bois reste le matériau de prédilection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-2 segments: les cuisines en kit (-9.5%) et encastrable (+7.9% et 69% </a:t>
            </a:r>
            <a:r>
              <a:rPr lang="fr-FR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pdm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-émergence de ciment minéral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-offre alliant esthétisme, fonctionnalité et ergonomie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-les distributeurs s’engagent dans une course aux services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285720" y="2786058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PRODUITS</a:t>
            </a:r>
            <a:endParaRPr lang="fr-FR" b="1" dirty="0">
              <a:solidFill>
                <a:srgbClr val="E2007A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57158" y="421481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SERVICES</a:t>
            </a:r>
            <a:endParaRPr lang="fr-FR" b="1" dirty="0">
              <a:solidFill>
                <a:srgbClr val="E2007A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14282" y="3500438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INNOVATION</a:t>
            </a:r>
            <a:endParaRPr lang="fr-FR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Connaître son marché: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1-3 La demande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 consommateurs, typologie, besoins, motivations, freins, dépense moyenne, fréquence d’achat, comportement d’achat...</a:t>
            </a:r>
          </a:p>
          <a:p>
            <a:pPr lvl="1">
              <a:buClr>
                <a:srgbClr val="E2007A"/>
              </a:buClr>
              <a:buNone/>
            </a:pPr>
            <a:endParaRPr lang="fr-FR" sz="2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-propriétaires maisons individuelles âgés de 25 à 49 ans, en couple: 1ers consommateurs de cuisine intégrées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 renouvellement touche les + de 50 ans: recherchent le contemporain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-appartement: achat de montage en kit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-les femmes accordent plus d’importance à la cuisine que les hommes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0" y="4214818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CONSOMMATEURS</a:t>
            </a:r>
            <a:endParaRPr lang="fr-FR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sz="2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-besoin d’auto-expression: on montre sa cuisine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-besoin de design, de lignes fluides et épurées (alu, inox, laque),  de fonctionnalité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-cuisine: lieu de convivialité et d’échange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-34% veulent une cuisine ouverte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-budget moyen: 4000€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214282" y="2786058"/>
            <a:ext cx="14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BESOINS</a:t>
            </a:r>
            <a:endParaRPr lang="fr-FR" b="1" dirty="0">
              <a:solidFill>
                <a:srgbClr val="E2007A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85720" y="3857628"/>
            <a:ext cx="14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DEPENSES</a:t>
            </a:r>
            <a:endParaRPr lang="fr-FR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Connaître son marché: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1-4 L’environnement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olitique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conomique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fr-FR" b="1" dirty="0" err="1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ocio-culturel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echnologique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cologique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égislatif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sz="2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Exemple: le marché des cuisinistes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-ventes impactées par la baisse des transactions immobilières</a:t>
            </a: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-hausse des prix des matières 1eres</a:t>
            </a:r>
          </a:p>
          <a:p>
            <a:pPr lvl="3">
              <a:buClr>
                <a:srgbClr val="E2007A"/>
              </a:buClr>
              <a:buNone/>
            </a:pPr>
            <a:endParaRPr lang="fr-FR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-mesures fiscales: TVA à 5.5% prolongées en 2010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214282" y="278605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ECONOMIQUE</a:t>
            </a:r>
            <a:endParaRPr lang="fr-FR" b="1" dirty="0">
              <a:solidFill>
                <a:srgbClr val="E2007A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85720" y="3857628"/>
            <a:ext cx="14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E2007A"/>
                </a:solidFill>
              </a:rPr>
              <a:t>POLITIQUE</a:t>
            </a:r>
            <a:endParaRPr lang="fr-FR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Connaître son marché: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1-5 Les recherches de données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insee.fr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-chambre des métiers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-fiches APCE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-CREDOC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lsa.fr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-fédérations, syndicats professionnels...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sz="2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None/>
            </a:pPr>
            <a:endParaRPr lang="fr-FR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sz="36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DIAGNOSTIC EXTERNE </a:t>
            </a:r>
            <a:endParaRPr lang="fr-FR" sz="36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Connaître son entreprise: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2-1 Identifier les forces et faiblesses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Exemples: 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		 Collaborateurs avec solide expérience et motivation, trésorerie correcte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     Parc machine ancien, absence de communication et de notoriété 	</a:t>
            </a:r>
          </a:p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Croix 7"/>
          <p:cNvSpPr/>
          <p:nvPr/>
        </p:nvSpPr>
        <p:spPr>
          <a:xfrm>
            <a:off x="1214414" y="3357562"/>
            <a:ext cx="214314" cy="214314"/>
          </a:xfrm>
          <a:prstGeom prst="plus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Moins 8"/>
          <p:cNvSpPr/>
          <p:nvPr/>
        </p:nvSpPr>
        <p:spPr>
          <a:xfrm>
            <a:off x="1214414" y="4357694"/>
            <a:ext cx="285752" cy="214314"/>
          </a:xfrm>
          <a:prstGeom prst="mathMinus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Connaître son entreprise: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2-2 Les recherches de données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-exercice comptable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-entretiens avec les salariés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-presse professionnelle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-commerciaux des fournisseurs...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sz="2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None/>
            </a:pPr>
            <a:endParaRPr lang="fr-FR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E2007A"/>
              </a:buClr>
              <a:buFont typeface="Wingdings" pitchFamily="2" charset="2"/>
              <a:buChar char="Ø"/>
            </a:pPr>
            <a:r>
              <a:rPr lang="fr-FR" sz="3600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DIAGNOSTIC INTERNE </a:t>
            </a:r>
            <a:endParaRPr lang="fr-FR" sz="36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La méthode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 Synthétiser les données:</a:t>
            </a: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3-1 La matrice SWOT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	</a:t>
            </a: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1428728" y="2571744"/>
          <a:ext cx="6500859" cy="345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53"/>
                <a:gridCol w="2166953"/>
                <a:gridCol w="2166953"/>
              </a:tblGrid>
              <a:tr h="357190">
                <a:tc>
                  <a:txBody>
                    <a:bodyPr/>
                    <a:lstStyle/>
                    <a:p>
                      <a:endParaRPr lang="fr-FR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E95D0F"/>
                          </a:solidFill>
                        </a:rPr>
                        <a:t>FORCES</a:t>
                      </a:r>
                      <a:endParaRPr lang="fr-FR" b="1" dirty="0">
                        <a:solidFill>
                          <a:srgbClr val="E95D0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E95D0F"/>
                          </a:solidFill>
                        </a:rPr>
                        <a:t>FAIBLESSES</a:t>
                      </a:r>
                      <a:endParaRPr lang="fr-FR" b="1" dirty="0">
                        <a:solidFill>
                          <a:srgbClr val="E95D0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1214446"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bg1"/>
                          </a:solidFill>
                        </a:rPr>
                        <a:t>INTERNE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dirty="0" smtClean="0"/>
                        <a:t>-collaborateurs avec expérience</a:t>
                      </a:r>
                    </a:p>
                    <a:p>
                      <a:r>
                        <a:rPr lang="fr-FR" sz="1400" b="0" dirty="0" smtClean="0"/>
                        <a:t>-collaborateurs motivés</a:t>
                      </a:r>
                    </a:p>
                    <a:p>
                      <a:r>
                        <a:rPr lang="fr-FR" sz="1400" b="0" dirty="0" smtClean="0"/>
                        <a:t>-trésorerie</a:t>
                      </a:r>
                      <a:r>
                        <a:rPr lang="fr-FR" sz="1400" b="0" baseline="0" dirty="0" smtClean="0"/>
                        <a:t> correcte</a:t>
                      </a:r>
                    </a:p>
                    <a:p>
                      <a:r>
                        <a:rPr lang="fr-FR" sz="1400" b="0" baseline="0" dirty="0" smtClean="0"/>
                        <a:t>-production: qualité haut de gamme</a:t>
                      </a:r>
                      <a:endParaRPr lang="fr-FR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dirty="0" smtClean="0"/>
                        <a:t>-pas de communication</a:t>
                      </a:r>
                    </a:p>
                    <a:p>
                      <a:r>
                        <a:rPr lang="fr-FR" sz="1400" b="0" dirty="0" smtClean="0"/>
                        <a:t>-notoriété faible</a:t>
                      </a:r>
                    </a:p>
                    <a:p>
                      <a:r>
                        <a:rPr lang="fr-FR" sz="1400" b="0" dirty="0" smtClean="0"/>
                        <a:t>-parc machine à renouveler</a:t>
                      </a:r>
                      <a:endParaRPr lang="fr-FR" sz="1400" b="0" dirty="0"/>
                    </a:p>
                  </a:txBody>
                  <a:tcPr/>
                </a:tc>
              </a:tr>
              <a:tr h="392909">
                <a:tc>
                  <a:txBody>
                    <a:bodyPr/>
                    <a:lstStyle/>
                    <a:p>
                      <a:endParaRPr lang="fr-FR" b="1" dirty="0">
                        <a:solidFill>
                          <a:srgbClr val="D4D6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E95D0F"/>
                          </a:solidFill>
                        </a:rPr>
                        <a:t>OPPORTUNITES</a:t>
                      </a:r>
                      <a:endParaRPr lang="fr-FR" b="1" dirty="0">
                        <a:solidFill>
                          <a:srgbClr val="E95D0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E95D0F"/>
                          </a:solidFill>
                        </a:rPr>
                        <a:t>MENACES</a:t>
                      </a:r>
                      <a:endParaRPr lang="fr-FR" b="1" dirty="0">
                        <a:solidFill>
                          <a:srgbClr val="E95D0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1321603"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bg1"/>
                          </a:solidFill>
                        </a:rPr>
                        <a:t>EXTERNE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dirty="0" smtClean="0"/>
                        <a:t>-orientation de la demande vers des produits de haute qualité</a:t>
                      </a:r>
                    </a:p>
                    <a:p>
                      <a:r>
                        <a:rPr lang="fr-FR" sz="1400" b="0" dirty="0" smtClean="0"/>
                        <a:t>-dépense moyenne: 235€</a:t>
                      </a:r>
                    </a:p>
                    <a:p>
                      <a:r>
                        <a:rPr lang="fr-FR" sz="1400" b="0" dirty="0" smtClean="0"/>
                        <a:t>-nouvelle demande en</a:t>
                      </a:r>
                      <a:r>
                        <a:rPr lang="fr-FR" sz="1400" b="0" baseline="0" dirty="0" smtClean="0"/>
                        <a:t> </a:t>
                      </a:r>
                      <a:r>
                        <a:rPr lang="fr-FR" sz="1400" b="0" dirty="0" smtClean="0"/>
                        <a:t>bio</a:t>
                      </a:r>
                      <a:endParaRPr lang="fr-FR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dirty="0" smtClean="0"/>
                        <a:t>-nouvel entrant: entreprise </a:t>
                      </a:r>
                      <a:r>
                        <a:rPr lang="fr-FR" sz="1400" b="0" dirty="0" err="1" smtClean="0"/>
                        <a:t>Duschmoll</a:t>
                      </a:r>
                      <a:endParaRPr lang="fr-FR" sz="1400" b="0" dirty="0" smtClean="0"/>
                    </a:p>
                    <a:p>
                      <a:r>
                        <a:rPr lang="fr-FR" sz="1400" b="0" dirty="0" smtClean="0"/>
                        <a:t>-notoriété des concurrents X et Y particulièrement forte</a:t>
                      </a:r>
                      <a:endParaRPr lang="fr-FR" sz="1400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71604" y="2786058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supports de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supports de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medias: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1-1 Les canaux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-presse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tx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mémorisation: 27%)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-télévision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tx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mémorisation: 17%)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-affichage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tx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mémorisation: 4%)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-cinéma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tx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mémorisation: 75%)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-radio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tx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mémorisation: 3.5%)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-web (10%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invest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. medias): site internet 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« vitrine », site internet marchand, sites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intranet et extranet, blog, réseaux sociaux</a:t>
            </a:r>
          </a:p>
          <a:p>
            <a:pPr lvl="1">
              <a:buClr>
                <a:srgbClr val="E2007A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7358082" y="2571744"/>
            <a:ext cx="785818" cy="400110"/>
          </a:xfrm>
          <a:prstGeom prst="rect">
            <a:avLst/>
          </a:prstGeom>
          <a:solidFill>
            <a:srgbClr val="E200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40%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358082" y="3143248"/>
            <a:ext cx="785818" cy="2246769"/>
          </a:xfrm>
          <a:prstGeom prst="rect">
            <a:avLst/>
          </a:prstGeom>
          <a:solidFill>
            <a:srgbClr val="E2007A"/>
          </a:solidFill>
        </p:spPr>
        <p:txBody>
          <a:bodyPr wrap="square" rtlCol="0">
            <a:spAutoFit/>
          </a:bodyPr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60%</a:t>
            </a:r>
          </a:p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supports de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medias: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1-2 Les objectifs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-cognitif: faire connaître, informer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-affectif: faire aimer, faire adhérer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-conatif: faire acheter, faire agir			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Profils et usages des internautes français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4286280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Indice d’influence des medias auprès des internautes français:</a:t>
            </a:r>
          </a:p>
          <a:p>
            <a:pPr lvl="1"/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Internet: 53%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TV : 27%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Radio: 9%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Magazines: 6%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Quotidiens: 5%</a:t>
            </a:r>
          </a:p>
          <a:p>
            <a:pPr lvl="3">
              <a:buNone/>
            </a:pPr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r>
              <a:rPr lang="fr-FR" sz="14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Source </a:t>
            </a:r>
            <a:r>
              <a:rPr lang="fr-FR" sz="14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Fleishman</a:t>
            </a:r>
            <a:r>
              <a:rPr lang="fr-FR" sz="14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sz="14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Hillard</a:t>
            </a:r>
            <a:r>
              <a:rPr lang="fr-FR" sz="14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2010</a:t>
            </a:r>
          </a:p>
          <a:p>
            <a:pPr lvl="3">
              <a:buNone/>
            </a:pPr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supports de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Le hors media: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2-1 Les plus courants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-parrainage (sponsoring)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-mécénat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-évènements, salons, foires...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-signalétique, total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covering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...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-RP		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supports de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Le hors media: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2-2 Le marketing direct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 </a:t>
            </a:r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 cognitif: faire connaître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 conatif: faire acheter, faire agir 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-phoning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-mailing ou publipostage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-Imprimé Sans Adresse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-e-mailing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SMSing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71604" y="2786058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techniques promotionnelles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techniques promotionnelles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</a:t>
            </a: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Avec obligation d’achat: 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-objectif conatif: faire acheter, faire agir immédiatement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-ventes à prime 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(offre </a:t>
            </a:r>
            <a:r>
              <a:rPr lang="fr-FR" sz="18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pdt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ou à conditions avantageuses pour l’achat d’un autre </a:t>
            </a:r>
            <a:r>
              <a:rPr lang="fr-FR" sz="18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pdt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)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-directe, différée, différée auto payante 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(offre </a:t>
            </a:r>
            <a:r>
              <a:rPr lang="fr-FR" sz="18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pdt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différent et sup à un prix avantageux en échange achat répété de </a:t>
            </a:r>
            <a:r>
              <a:rPr lang="fr-FR" sz="18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pdt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lvl="1">
              <a:buClr>
                <a:srgbClr val="E2007A"/>
              </a:buClr>
              <a:buNone/>
            </a:pP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réductions de prix temporaire 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fr-FR" sz="1800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couponning</a:t>
            </a:r>
            <a:r>
              <a:rPr lang="fr-FR" sz="1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rabais sur quantités, réduction sur preuve d’achat...)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techniques promotionnelles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2-Sans obligation d’achat: </a:t>
            </a:r>
          </a:p>
          <a:p>
            <a:pP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jeux, concours, loterie, essai gratuit...</a:t>
            </a:r>
          </a:p>
          <a:p>
            <a:pP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3-Mises en avant de produit</a:t>
            </a:r>
          </a:p>
          <a:p>
            <a:pPr>
              <a:buNone/>
            </a:pPr>
            <a:endParaRPr lang="fr-FR" sz="28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4-Le </a:t>
            </a:r>
            <a:r>
              <a:rPr lang="fr-FR" sz="2800" b="1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trade</a:t>
            </a: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marketing</a:t>
            </a:r>
          </a:p>
          <a:p>
            <a:pPr lvl="1"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</a:t>
            </a:r>
          </a:p>
          <a:p>
            <a:pPr lvl="3">
              <a:buClr>
                <a:srgbClr val="E2007A"/>
              </a:buClr>
              <a:buFont typeface="Wingdings" pitchFamily="2" charset="2"/>
              <a:buChar char="Ø"/>
            </a:pPr>
            <a:r>
              <a:rPr lang="fr-FR" sz="32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Effet incrémental</a:t>
            </a:r>
            <a:endParaRPr lang="fr-FR" sz="3200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techniques promotionnelles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41973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5-Les 4 S:</a:t>
            </a:r>
          </a:p>
          <a:p>
            <a:pPr>
              <a:buNone/>
            </a:pPr>
            <a:endParaRPr lang="fr-FR" sz="28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fr-FR" sz="36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imple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fr-FR" sz="36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pectaculaire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fr-FR" sz="36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ingulière</a:t>
            </a:r>
          </a:p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fr-FR" sz="36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tratégique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Les supports de communication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6-Contraintes</a:t>
            </a:r>
          </a:p>
          <a:p>
            <a:pPr>
              <a:buNone/>
            </a:pPr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Attention aux contraintes règlementaires:</a:t>
            </a:r>
          </a:p>
          <a:p>
            <a:pPr>
              <a:buNone/>
            </a:pPr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-règlement pour jeu et concours</a:t>
            </a:r>
          </a:p>
          <a:p>
            <a:pPr>
              <a:buNone/>
            </a:pPr>
            <a:r>
              <a:rPr lang="fr-FR" sz="2800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571604" y="2786058"/>
            <a:ext cx="5855848" cy="114300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 à se poser</a:t>
            </a:r>
            <a:endParaRPr lang="fr-FR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150019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1: quel est mon objectif?</a:t>
            </a:r>
            <a:endParaRPr lang="fr-FR" sz="14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000240"/>
            <a:ext cx="8229600" cy="307183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OBJECTIFS: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Développer mon chiffre, mon volume, mon activité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Démontrer mon expertise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Développer ma notoriété: me faire connaître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Améliorer, construire, modifier mon image</a:t>
            </a:r>
          </a:p>
          <a:p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150019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2: quelle est ma cible?</a:t>
            </a:r>
            <a:endParaRPr lang="fr-FR" sz="14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000240"/>
            <a:ext cx="8229600" cy="4214842"/>
          </a:xfrm>
        </p:spPr>
        <p:txBody>
          <a:bodyPr>
            <a:normAutofit fontScale="925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CIBLES: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Mon prospect du commerce traditionnel: à définir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prospects différents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clients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pairs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influenceurs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Définir: leur terminologie, leurs besoins, leur comportement d’achat, leurs usages sur le net, les sites de référence...</a:t>
            </a:r>
          </a:p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150019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3: quels contenus développer?</a:t>
            </a:r>
            <a:endParaRPr lang="fr-FR" sz="14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000240"/>
            <a:ext cx="8229600" cy="4214842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CONTENUS: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rédactionnel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graphisme</a:t>
            </a: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rich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media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video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;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podcast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slides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...)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L’agrégation (annuaires, liens utiles, piges...)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fonctionnalités (jeux, outils, quizz...)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files (livres blancs,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ebook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extraits...)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L’user content (communautés, témoignages, forums, interviews...)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textes (présentations, conseils, analyses...)</a:t>
            </a:r>
          </a:p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150019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4: où publier mes contenus?</a:t>
            </a:r>
            <a:endParaRPr lang="fr-FR" sz="14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000240"/>
            <a:ext cx="8229600" cy="4214842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SUPPORTS: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medias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hors medias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marketing direct</a:t>
            </a: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fr-FR" sz="3200" dirty="0" smtClean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Adéquation audience/audience utile!</a:t>
            </a: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1643050"/>
            <a:ext cx="8229600" cy="4214842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CONTENANTS: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site (Utile, Utilisable, Utilisé)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blog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réseaux sociaux: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Facebook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Twitter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Viadeo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...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sites tiers: sites éditoriaux, communautaires, partenaires...</a:t>
            </a:r>
          </a:p>
          <a:p>
            <a:pPr lvl="1"/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Applications mobiles ou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widget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150019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QUESTION 5: où faire connaître mes e-contenus?</a:t>
            </a:r>
            <a:endParaRPr lang="fr-FR" sz="1400" b="1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Les 5 questions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4572032"/>
          </a:xfrm>
        </p:spPr>
        <p:txBody>
          <a:bodyPr>
            <a:normAutofit lnSpcReduction="10000"/>
          </a:bodyPr>
          <a:lstStyle/>
          <a:p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E-LEVIERS 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pour diffuser ses</a:t>
            </a:r>
          </a:p>
          <a:p>
            <a:pP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e-contenus:</a:t>
            </a:r>
          </a:p>
          <a:p>
            <a:pPr lvl="1"/>
            <a:r>
              <a:rPr lang="fr-FR" sz="3200" b="1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earch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(SEM, SEO): référencement</a:t>
            </a:r>
          </a:p>
          <a:p>
            <a:pPr lvl="1"/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artenariats (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branding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affiliation...)</a:t>
            </a:r>
          </a:p>
          <a:p>
            <a:pPr lvl="1"/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-mailing (newsletter, alertes,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emailing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de conquête...)</a:t>
            </a:r>
          </a:p>
          <a:p>
            <a:pPr lvl="1"/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reputation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(forums, </a:t>
            </a:r>
            <a:r>
              <a:rPr lang="fr-FR" dirty="0" err="1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bloggueurs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, groupes, réseaux sociaux...)</a:t>
            </a:r>
          </a:p>
          <a:p>
            <a:pPr lvl="1"/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isplay (bannières, habillages...)</a:t>
            </a:r>
          </a:p>
          <a:p>
            <a:pPr lvl="1"/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 rot="20791603">
            <a:off x="7046854" y="1724095"/>
            <a:ext cx="188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 smtClean="0">
                <a:solidFill>
                  <a:srgbClr val="E2007A"/>
                </a:solidFill>
              </a:rPr>
              <a:t>SPEED</a:t>
            </a:r>
            <a:endParaRPr lang="fr-FR" sz="4800" b="1" dirty="0">
              <a:solidFill>
                <a:srgbClr val="E2007A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D- Les 5 questions</a:t>
            </a:r>
            <a:endParaRPr lang="fr-FR" sz="30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      SPEED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Ellipse 7"/>
          <p:cNvSpPr/>
          <p:nvPr/>
        </p:nvSpPr>
        <p:spPr>
          <a:xfrm>
            <a:off x="214282" y="3286124"/>
            <a:ext cx="1500198" cy="857256"/>
          </a:xfrm>
          <a:prstGeom prst="ellipse">
            <a:avLst/>
          </a:prstGeom>
          <a:noFill/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Entreprise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7429520" y="3357562"/>
            <a:ext cx="1571636" cy="857256"/>
          </a:xfrm>
          <a:prstGeom prst="ellipse">
            <a:avLst/>
          </a:prstGeom>
          <a:noFill/>
          <a:ln>
            <a:solidFill>
              <a:srgbClr val="D4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b="1" dirty="0" smtClean="0">
                <a:solidFill>
                  <a:schemeClr val="tx1"/>
                </a:solidFill>
              </a:rPr>
              <a:t>Internautes</a:t>
            </a:r>
            <a:endParaRPr lang="fr-FR" sz="1500" b="1" dirty="0">
              <a:solidFill>
                <a:schemeClr val="tx1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2000232" y="2928934"/>
            <a:ext cx="1357322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MESSAGES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43438" y="5286388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D</a:t>
            </a:r>
            <a:r>
              <a:rPr lang="fr-FR" dirty="0" smtClean="0">
                <a:solidFill>
                  <a:schemeClr val="bg1"/>
                </a:solidFill>
              </a:rPr>
              <a:t>isplay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32552" y="2143116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 smtClean="0">
                <a:solidFill>
                  <a:schemeClr val="bg1"/>
                </a:solidFill>
              </a:rPr>
              <a:t>S</a:t>
            </a:r>
            <a:r>
              <a:rPr lang="fr-FR" dirty="0" err="1" smtClean="0">
                <a:solidFill>
                  <a:schemeClr val="bg1"/>
                </a:solidFill>
              </a:rPr>
              <a:t>earch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32552" y="2928934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P</a:t>
            </a:r>
            <a:r>
              <a:rPr lang="fr-FR" dirty="0" smtClean="0">
                <a:solidFill>
                  <a:schemeClr val="bg1"/>
                </a:solidFill>
              </a:rPr>
              <a:t>artenariats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32552" y="371475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r>
              <a:rPr lang="fr-FR" dirty="0" smtClean="0">
                <a:solidFill>
                  <a:schemeClr val="bg1"/>
                </a:solidFill>
              </a:rPr>
              <a:t>-mailing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43438" y="4572008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r>
              <a:rPr lang="fr-FR" dirty="0" smtClean="0">
                <a:solidFill>
                  <a:schemeClr val="bg1"/>
                </a:solidFill>
              </a:rPr>
              <a:t>-</a:t>
            </a:r>
            <a:r>
              <a:rPr lang="fr-FR" dirty="0" err="1" smtClean="0">
                <a:solidFill>
                  <a:schemeClr val="bg1"/>
                </a:solidFill>
              </a:rPr>
              <a:t>reputation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Triangle isocèle 20"/>
          <p:cNvSpPr/>
          <p:nvPr/>
        </p:nvSpPr>
        <p:spPr>
          <a:xfrm rot="16200000">
            <a:off x="3278969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5400000">
            <a:off x="6184797" y="3293271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93117E"/>
                </a:solidFill>
              </a:rPr>
              <a:t>Les leviers:</a:t>
            </a:r>
            <a:endParaRPr lang="fr-FR" sz="2400" b="1" dirty="0">
              <a:solidFill>
                <a:srgbClr val="93117E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2714620"/>
            <a:ext cx="8229600" cy="150019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E- Le plan de communication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E- Le plan de communication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785926"/>
            <a:ext cx="8229600" cy="4429156"/>
          </a:xfrm>
        </p:spPr>
        <p:txBody>
          <a:bodyPr>
            <a:normAutofit/>
          </a:bodyPr>
          <a:lstStyle/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Cible</a:t>
            </a: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</a:t>
            </a: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Support</a:t>
            </a: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Contenu</a:t>
            </a: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Fréquence</a:t>
            </a: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Budget</a:t>
            </a:r>
          </a:p>
          <a:p>
            <a:pPr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ZoneTexte 7"/>
          <p:cNvSpPr txBox="1"/>
          <p:nvPr/>
        </p:nvSpPr>
        <p:spPr>
          <a:xfrm>
            <a:off x="5357818" y="2357430"/>
            <a:ext cx="1785950" cy="2739211"/>
          </a:xfrm>
          <a:prstGeom prst="rect">
            <a:avLst/>
          </a:prstGeom>
          <a:solidFill>
            <a:srgbClr val="E2007A"/>
          </a:solidFill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pPr algn="ctr"/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Dates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E-Le plan de communication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4429156"/>
          </a:xfrm>
        </p:spPr>
        <p:txBody>
          <a:bodyPr>
            <a:normAutofit/>
          </a:bodyPr>
          <a:lstStyle/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ton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L’iconographie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logo, la signature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charte graphique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cross media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mesure</a:t>
            </a: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None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E-Le plan de communication</a:t>
            </a:r>
            <a:endParaRPr lang="fr-FR" sz="3200" b="1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4429156"/>
          </a:xfrm>
        </p:spPr>
        <p:txBody>
          <a:bodyPr>
            <a:normAutofit/>
          </a:bodyPr>
          <a:lstStyle/>
          <a:p>
            <a:pPr lvl="1"/>
            <a:endParaRPr lang="fr-FR" sz="1400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r>
              <a:rPr lang="fr-FR" b="1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Particularité des supports web:</a:t>
            </a:r>
          </a:p>
          <a:p>
            <a:pPr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-sites</a:t>
            </a:r>
          </a:p>
          <a:p>
            <a:pPr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-blogs</a:t>
            </a:r>
          </a:p>
          <a:p>
            <a:pPr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-réseaux sociaux professionnels</a:t>
            </a:r>
          </a:p>
          <a:p>
            <a:pPr>
              <a:buClr>
                <a:srgbClr val="E2007A"/>
              </a:buClr>
              <a:buNone/>
            </a:pPr>
            <a:r>
              <a:rPr lang="fr-FR" dirty="0" smtClean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-réseaux sociaux privés</a:t>
            </a:r>
          </a:p>
          <a:p>
            <a:pPr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3929090"/>
          </a:xfrm>
        </p:spPr>
        <p:txBody>
          <a:bodyPr>
            <a:normAutofit/>
          </a:bodyPr>
          <a:lstStyle/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sz="4400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La valeur d’une idée dépend de son utilisation.</a:t>
            </a:r>
          </a:p>
          <a:p>
            <a:pPr lvl="1">
              <a:buClr>
                <a:srgbClr val="E2007A"/>
              </a:buClr>
              <a:buNone/>
            </a:pPr>
            <a:endParaRPr lang="fr-FR" b="1" dirty="0" smtClean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r>
              <a:rPr lang="fr-FR" b="1" dirty="0" smtClean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						Thomas Edison</a:t>
            </a:r>
          </a:p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None/>
            </a:pPr>
            <a:endParaRPr lang="fr-FR" dirty="0" smtClean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NJM Conseil - njm.conseil@orange.fr</a:t>
            </a:r>
            <a:endParaRPr lang="fr-FR"/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2087</Words>
  <Application>Microsoft Office PowerPoint</Application>
  <PresentationFormat>Affichage à l'écran (4:3)</PresentationFormat>
  <Paragraphs>599</Paragraphs>
  <Slides>55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59" baseType="lpstr">
      <vt:lpstr>Arial</vt:lpstr>
      <vt:lpstr>Calibri</vt:lpstr>
      <vt:lpstr>Wingdings</vt:lpstr>
      <vt:lpstr>Thème Office</vt:lpstr>
      <vt:lpstr>Présentation PowerPoint</vt:lpstr>
      <vt:lpstr>A- La communication</vt:lpstr>
      <vt:lpstr>A- La communication</vt:lpstr>
      <vt:lpstr>A- La communication</vt:lpstr>
      <vt:lpstr>A- La communication</vt:lpstr>
      <vt:lpstr>A- La communication</vt:lpstr>
      <vt:lpstr>A- La communication</vt:lpstr>
      <vt:lpstr>A- La communication</vt:lpstr>
      <vt:lpstr>A- La communication</vt:lpstr>
      <vt:lpstr>A- La communication</vt:lpstr>
      <vt:lpstr>A- La communication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B- La méthode</vt:lpstr>
      <vt:lpstr>C- Les supports de communication</vt:lpstr>
      <vt:lpstr>C- Les supports de communication</vt:lpstr>
      <vt:lpstr>C- Les supports de communication</vt:lpstr>
      <vt:lpstr>B- Profils et usages des internautes français</vt:lpstr>
      <vt:lpstr>C- Les supports de communication</vt:lpstr>
      <vt:lpstr>C- Les supports de communication</vt:lpstr>
      <vt:lpstr>C- Les techniques promotionnelles</vt:lpstr>
      <vt:lpstr>C- Les techniques promotionnelles</vt:lpstr>
      <vt:lpstr>C- Les techniques promotionnelles</vt:lpstr>
      <vt:lpstr>C- Les techniques promotionnelles</vt:lpstr>
      <vt:lpstr>C- Les supports de communication</vt:lpstr>
      <vt:lpstr>D- Les 5 questions à se poser</vt:lpstr>
      <vt:lpstr>D- Les 5 questions</vt:lpstr>
      <vt:lpstr>D- Les 5 questions</vt:lpstr>
      <vt:lpstr>D- Les 5 questions</vt:lpstr>
      <vt:lpstr>D- Les 5 questions</vt:lpstr>
      <vt:lpstr>D- Les 5 questions</vt:lpstr>
      <vt:lpstr>D- Les 5 questions</vt:lpstr>
      <vt:lpstr>D- Les 5 questions</vt:lpstr>
      <vt:lpstr>D- Les 5 questions</vt:lpstr>
      <vt:lpstr>D- Les 5 questions</vt:lpstr>
      <vt:lpstr>D- Les 5 questions</vt:lpstr>
      <vt:lpstr>D- Les 5 questions</vt:lpstr>
      <vt:lpstr>            D- Les 5 questions</vt:lpstr>
      <vt:lpstr>Présentation PowerPoint</vt:lpstr>
      <vt:lpstr>E- Le plan de communication</vt:lpstr>
      <vt:lpstr>E-Le plan de communication</vt:lpstr>
      <vt:lpstr>E-Le plan de communication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Administrateur</dc:creator>
  <cp:lastModifiedBy>nathalie joulie morand</cp:lastModifiedBy>
  <cp:revision>89</cp:revision>
  <dcterms:created xsi:type="dcterms:W3CDTF">2011-11-12T19:31:13Z</dcterms:created>
  <dcterms:modified xsi:type="dcterms:W3CDTF">2017-10-10T19:34:51Z</dcterms:modified>
</cp:coreProperties>
</file>