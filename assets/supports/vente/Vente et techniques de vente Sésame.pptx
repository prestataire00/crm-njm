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handoutMasterIdLst>
    <p:handoutMasterId r:id="rId36"/>
  </p:handoutMasterIdLst>
  <p:sldIdLst>
    <p:sldId id="256" r:id="rId2"/>
    <p:sldId id="309" r:id="rId3"/>
    <p:sldId id="352" r:id="rId4"/>
    <p:sldId id="278" r:id="rId5"/>
    <p:sldId id="319" r:id="rId6"/>
    <p:sldId id="353" r:id="rId7"/>
    <p:sldId id="261" r:id="rId8"/>
    <p:sldId id="338" r:id="rId9"/>
    <p:sldId id="321" r:id="rId10"/>
    <p:sldId id="279" r:id="rId11"/>
    <p:sldId id="267" r:id="rId12"/>
    <p:sldId id="323" r:id="rId13"/>
    <p:sldId id="268" r:id="rId14"/>
    <p:sldId id="340" r:id="rId15"/>
    <p:sldId id="350" r:id="rId16"/>
    <p:sldId id="337" r:id="rId17"/>
    <p:sldId id="324" r:id="rId18"/>
    <p:sldId id="325" r:id="rId19"/>
    <p:sldId id="326" r:id="rId20"/>
    <p:sldId id="327" r:id="rId21"/>
    <p:sldId id="328" r:id="rId22"/>
    <p:sldId id="335" r:id="rId23"/>
    <p:sldId id="329" r:id="rId24"/>
    <p:sldId id="330" r:id="rId25"/>
    <p:sldId id="331" r:id="rId26"/>
    <p:sldId id="347" r:id="rId27"/>
    <p:sldId id="336" r:id="rId28"/>
    <p:sldId id="345" r:id="rId29"/>
    <p:sldId id="332" r:id="rId30"/>
    <p:sldId id="351" r:id="rId31"/>
    <p:sldId id="349" r:id="rId32"/>
    <p:sldId id="354" r:id="rId33"/>
    <p:sldId id="316" r:id="rId34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3117E"/>
    <a:srgbClr val="E95D0F"/>
    <a:srgbClr val="E2007A"/>
    <a:srgbClr val="D4D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148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E72972-53CD-4AB0-A480-59059EAA09C8}" type="datetimeFigureOut">
              <a:rPr lang="fr-FR" smtClean="0"/>
              <a:pPr/>
              <a:t>23/11/2020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DFDEF2-D5CA-4DDD-B4CB-69B5EFB346C7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1523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2DDB25-55EB-472D-8B07-AF81CF403AB0}" type="datetimeFigureOut">
              <a:rPr lang="fr-FR" smtClean="0"/>
              <a:pPr/>
              <a:t>23/11/2020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95A461-29CF-4583-A100-9C757AF6BFA7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2116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80073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41364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12444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64%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35554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33267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28519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56096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19917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22746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13740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8981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17707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96441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05166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15324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36002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65276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579649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902811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62627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fr-FR" dirty="0"/>
              <a:t>EXEMPLE</a:t>
            </a:r>
            <a:r>
              <a:rPr lang="fr-FR" baseline="0" dirty="0"/>
              <a:t> </a:t>
            </a:r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C’est une production intéressante. J’ai particulièrement apprécié…</a:t>
            </a:r>
          </a:p>
          <a:p>
            <a:pPr fontAlgn="base"/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 aurais pu davantage développer….</a:t>
            </a:r>
          </a:p>
          <a:p>
            <a:pPr fontAlgn="base"/>
            <a:r>
              <a:rPr lang="fr-F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Cela reste un très bon travail, très précis, détaillé et argumenté…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443829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97% des</a:t>
            </a:r>
            <a:r>
              <a:rPr lang="fr-FR" baseline="0" dirty="0"/>
              <a:t> étudiants, 30% des retraités INSEE 2010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115071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97% des</a:t>
            </a:r>
            <a:r>
              <a:rPr lang="fr-FR" baseline="0" dirty="0"/>
              <a:t> étudiants, 30% des retraités INSEE 2010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260894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97% des</a:t>
            </a:r>
            <a:r>
              <a:rPr lang="fr-FR" baseline="0" dirty="0"/>
              <a:t> étudiants, 30% des retraités INSEE 2010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31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36198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97% des</a:t>
            </a:r>
            <a:r>
              <a:rPr lang="fr-FR" baseline="0" dirty="0"/>
              <a:t> étudiants, 30% des retraités INSEE 2010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32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797375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95A461-29CF-4583-A100-9C757AF6BFA7}" type="slidenum">
              <a:rPr lang="fr-FR" smtClean="0"/>
              <a:pPr/>
              <a:t>33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73025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DA5F6-5D02-4672-92E3-CDE56371D971}" type="datetime1">
              <a:rPr lang="fr-FR" smtClean="0"/>
              <a:pPr/>
              <a:t>23/11/2020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AAFFA-6257-4970-82D8-A6C805899C9D}" type="datetime1">
              <a:rPr lang="fr-FR" smtClean="0"/>
              <a:pPr/>
              <a:t>23/11/2020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6FB05-901D-4921-8A64-3AEBF7820156}" type="datetime1">
              <a:rPr lang="fr-FR" smtClean="0"/>
              <a:pPr/>
              <a:t>23/11/2020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53CC7-8A61-4E5D-92E5-E8AABE5A2EE7}" type="datetime1">
              <a:rPr lang="fr-FR" smtClean="0"/>
              <a:pPr/>
              <a:t>23/11/2020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238C5-E2A4-4A73-AAEB-6C59E93FE46F}" type="datetime1">
              <a:rPr lang="fr-FR" smtClean="0"/>
              <a:pPr/>
              <a:t>23/11/2020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741288-5FAF-442B-993A-07438DEBE7FD}" type="datetime1">
              <a:rPr lang="fr-FR" smtClean="0"/>
              <a:pPr/>
              <a:t>23/11/2020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F3DF1-845C-40AE-9586-CA470B3271BF}" type="datetime1">
              <a:rPr lang="fr-FR" smtClean="0"/>
              <a:pPr/>
              <a:t>23/11/2020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989FE-3355-4CEA-8D36-3B19D2C3D317}" type="datetime1">
              <a:rPr lang="fr-FR" smtClean="0"/>
              <a:pPr/>
              <a:t>23/11/2020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29672-4337-4698-8D7C-B82DC3C18DBD}" type="datetime1">
              <a:rPr lang="fr-FR" smtClean="0"/>
              <a:pPr/>
              <a:t>23/11/2020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2A144-BD82-4F67-8B0F-DBF01102429E}" type="datetime1">
              <a:rPr lang="fr-FR" smtClean="0"/>
              <a:pPr/>
              <a:t>23/11/2020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31500-D00B-4AF4-B5B4-1FAB4B1266C3}" type="datetime1">
              <a:rPr lang="fr-FR" smtClean="0"/>
              <a:pPr/>
              <a:t>23/11/2020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07669E-A44D-49CA-9E5C-C2D471D984C4}" type="datetime1">
              <a:rPr lang="fr-FR" smtClean="0"/>
              <a:pPr/>
              <a:t>23/11/2020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FR"/>
              <a:t>NJM Conseil - njm.conseil@orange.fr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D44C4B-DF67-4893-AC7A-6757B004DDEE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28596" y="1857364"/>
            <a:ext cx="8229600" cy="3043246"/>
          </a:xfrm>
        </p:spPr>
        <p:txBody>
          <a:bodyPr>
            <a:normAutofit fontScale="25000" lnSpcReduction="20000"/>
          </a:bodyPr>
          <a:lstStyle/>
          <a:p>
            <a:pPr algn="ctr">
              <a:buNone/>
            </a:pPr>
            <a:endParaRPr lang="fr-FR" sz="58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algn="ctr">
              <a:buNone/>
            </a:pPr>
            <a:endParaRPr lang="fr-FR" sz="58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algn="ctr">
              <a:buNone/>
            </a:pPr>
            <a:endParaRPr lang="fr-FR" sz="58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algn="ctr">
              <a:buNone/>
            </a:pPr>
            <a:r>
              <a:rPr lang="fr-FR" sz="21600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VENTE ET TECHNIQUES DE VENTE</a:t>
            </a: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fr-FR" sz="6400" dirty="0">
              <a:solidFill>
                <a:srgbClr val="D4D600"/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fr-FR" sz="6400" dirty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Nathalie JOULIE-MORAND</a:t>
            </a:r>
          </a:p>
          <a:p>
            <a:pPr>
              <a:buNone/>
            </a:pPr>
            <a:r>
              <a:rPr lang="fr-FR" sz="6400" dirty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NJM Conseil Le </a:t>
            </a:r>
            <a:r>
              <a:rPr lang="fr-FR" sz="6400" dirty="0" err="1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Cassan</a:t>
            </a:r>
            <a:r>
              <a:rPr lang="fr-FR" sz="6400" dirty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 12 330 Clairvaux d’Aveyron</a:t>
            </a:r>
          </a:p>
          <a:p>
            <a:pPr>
              <a:buNone/>
            </a:pPr>
            <a:r>
              <a:rPr lang="fr-FR" sz="6400" dirty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06 88 10 40 67-www.njm-conseil.fr</a:t>
            </a: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fr-FR" sz="4000" dirty="0">
              <a:solidFill>
                <a:srgbClr val="D4D6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1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4846E82C-FD8A-47A9-9581-A61CEB09B25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113" t="19429" r="26062" b="55603"/>
          <a:stretch/>
        </p:blipFill>
        <p:spPr>
          <a:xfrm>
            <a:off x="4932040" y="208036"/>
            <a:ext cx="3851448" cy="110734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3044313" y="456415"/>
            <a:ext cx="5010350" cy="858966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OBJECTIFS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2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2D45E039-55C2-4B87-BA6B-558DDE2E6B69}"/>
              </a:ext>
            </a:extLst>
          </p:cNvPr>
          <p:cNvSpPr txBox="1"/>
          <p:nvPr/>
        </p:nvSpPr>
        <p:spPr>
          <a:xfrm>
            <a:off x="395536" y="1988840"/>
            <a:ext cx="864096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>
                <a:solidFill>
                  <a:srgbClr val="E95D0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-être capable d’employer l’écoute active</a:t>
            </a:r>
          </a:p>
          <a:p>
            <a:endParaRPr lang="fr-FR" sz="3200" dirty="0">
              <a:solidFill>
                <a:srgbClr val="E95D0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3200" dirty="0">
                <a:solidFill>
                  <a:srgbClr val="E95D0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-savoir identifier le profil de son interlocuteur</a:t>
            </a:r>
          </a:p>
          <a:p>
            <a:endParaRPr lang="fr-FR" sz="3200" dirty="0">
              <a:solidFill>
                <a:srgbClr val="E95D0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3200" dirty="0">
                <a:solidFill>
                  <a:srgbClr val="E95D0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-être capable de traiter les objections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1142976" y="2786058"/>
            <a:ext cx="7215238" cy="1143000"/>
          </a:xfrm>
        </p:spPr>
        <p:txBody>
          <a:bodyPr>
            <a:normAutofit fontScale="90000"/>
          </a:bodyPr>
          <a:lstStyle/>
          <a:p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A- Qu’est-ce qu’un vendeur?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3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69406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A- Le vendeur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57200" y="1857364"/>
            <a:ext cx="8229600" cy="4268799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Vos définitions?</a:t>
            </a: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 lvl="1">
              <a:buClr>
                <a:srgbClr val="E2007A"/>
              </a:buClr>
              <a:buFont typeface="Wingdings" pitchFamily="2" charset="2"/>
              <a:buChar char="Ø"/>
            </a:pPr>
            <a:r>
              <a:rPr lang="fr-FR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Exercice</a:t>
            </a:r>
          </a:p>
          <a:p>
            <a:pPr>
              <a:buClr>
                <a:srgbClr val="D4D600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4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9821BE3E-54A2-4745-BABA-9B2CC1CFC8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5936" y="2852936"/>
            <a:ext cx="4248472" cy="26478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A- Le vendeur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57200" y="1857364"/>
            <a:ext cx="8229600" cy="4268799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Le vendeur d’aujourd’hui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Une personne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Un goût pour l’autre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Un sens de l’écoute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Une capacité pour la communication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Une organisation</a:t>
            </a:r>
          </a:p>
          <a:p>
            <a:pPr lvl="1"/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1"/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1"/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5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A- Le vendeur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57200" y="1815207"/>
            <a:ext cx="8229600" cy="4464496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Le vendeur d’aujourd’hui: voir article LSA</a:t>
            </a:r>
          </a:p>
          <a:p>
            <a:pPr marL="457200" lvl="1" indent="0">
              <a:buNone/>
            </a:pPr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-Agir en « vendeur augmenté » en reprenant le fil des recherches déjà menées par le client</a:t>
            </a:r>
          </a:p>
          <a:p>
            <a:pPr marL="457200" lvl="1" indent="0">
              <a:buNone/>
            </a:pPr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-Dépasser le cadre de la pure transaction pour cocréer avec le client une relation plus humaine et épanouissante.</a:t>
            </a:r>
          </a:p>
          <a:p>
            <a:pPr marL="457200" lvl="1" indent="0">
              <a:buNone/>
            </a:pPr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-Se sentir impliqué et porteur des valeurs de son enseigne</a:t>
            </a: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6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66A4937D-11B1-4EEC-A7DD-397AB17036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6088103"/>
            <a:ext cx="2304488" cy="268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5576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143108" y="214290"/>
            <a:ext cx="6786610" cy="1143000"/>
          </a:xfrm>
        </p:spPr>
        <p:txBody>
          <a:bodyPr>
            <a:normAutofit/>
          </a:bodyPr>
          <a:lstStyle/>
          <a:p>
            <a:pPr algn="l"/>
            <a:r>
              <a:rPr lang="fr-FR" sz="30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            C- La vente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57200" y="1600200"/>
            <a:ext cx="8543956" cy="4525963"/>
          </a:xfrm>
        </p:spPr>
        <p:txBody>
          <a:bodyPr/>
          <a:lstStyle/>
          <a:p>
            <a:pPr>
              <a:buNone/>
            </a:pPr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                                </a:t>
            </a:r>
            <a:endParaRPr lang="fr-FR" b="1" dirty="0">
              <a:solidFill>
                <a:srgbClr val="D4D600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Clr>
                <a:srgbClr val="D4D600"/>
              </a:buClr>
              <a:buNone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7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  <p:sp>
        <p:nvSpPr>
          <p:cNvPr id="11" name="Rectangle à coins arrondis 10"/>
          <p:cNvSpPr/>
          <p:nvPr/>
        </p:nvSpPr>
        <p:spPr>
          <a:xfrm>
            <a:off x="1000100" y="2928934"/>
            <a:ext cx="1785950" cy="1500198"/>
          </a:xfrm>
          <a:prstGeom prst="roundRect">
            <a:avLst/>
          </a:prstGeom>
          <a:noFill/>
          <a:ln>
            <a:solidFill>
              <a:srgbClr val="9311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ECHANGE</a:t>
            </a:r>
          </a:p>
          <a:p>
            <a:pPr algn="ctr"/>
            <a:r>
              <a:rPr lang="fr-FR" dirty="0">
                <a:solidFill>
                  <a:schemeClr val="tx1"/>
                </a:solidFill>
              </a:rPr>
              <a:t>Ayant pour but</a:t>
            </a:r>
          </a:p>
        </p:txBody>
      </p:sp>
      <p:sp>
        <p:nvSpPr>
          <p:cNvPr id="22" name="Triangle isocèle 21"/>
          <p:cNvSpPr/>
          <p:nvPr/>
        </p:nvSpPr>
        <p:spPr>
          <a:xfrm rot="5400000">
            <a:off x="5681325" y="3221833"/>
            <a:ext cx="1357322" cy="914400"/>
          </a:xfrm>
          <a:prstGeom prst="triangle">
            <a:avLst/>
          </a:prstGeom>
          <a:solidFill>
            <a:srgbClr val="D4D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ZoneTexte 22"/>
          <p:cNvSpPr txBox="1"/>
          <p:nvPr/>
        </p:nvSpPr>
        <p:spPr>
          <a:xfrm>
            <a:off x="500034" y="1714488"/>
            <a:ext cx="60007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rgbClr val="E95D0F"/>
                </a:solidFill>
              </a:rPr>
              <a:t>La communication: qu’est-ce que c’est?</a:t>
            </a:r>
          </a:p>
        </p:txBody>
      </p:sp>
      <p:sp>
        <p:nvSpPr>
          <p:cNvPr id="25" name="Rectangle à coins arrondis 24"/>
          <p:cNvSpPr/>
          <p:nvPr/>
        </p:nvSpPr>
        <p:spPr>
          <a:xfrm>
            <a:off x="6919926" y="2928934"/>
            <a:ext cx="1785950" cy="1500198"/>
          </a:xfrm>
          <a:prstGeom prst="roundRect">
            <a:avLst/>
          </a:prstGeom>
          <a:noFill/>
          <a:ln>
            <a:solidFill>
              <a:srgbClr val="9311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Qui fait </a:t>
            </a:r>
            <a:r>
              <a:rPr lang="fr-FR" b="1" dirty="0">
                <a:solidFill>
                  <a:schemeClr val="tx1"/>
                </a:solidFill>
              </a:rPr>
              <a:t>AGIR</a:t>
            </a:r>
          </a:p>
        </p:txBody>
      </p:sp>
      <p:sp>
        <p:nvSpPr>
          <p:cNvPr id="26" name="Rectangle à coins arrondis 25"/>
          <p:cNvSpPr/>
          <p:nvPr/>
        </p:nvSpPr>
        <p:spPr>
          <a:xfrm>
            <a:off x="3973960" y="2928934"/>
            <a:ext cx="1785950" cy="1500198"/>
          </a:xfrm>
          <a:prstGeom prst="roundRect">
            <a:avLst/>
          </a:prstGeom>
          <a:noFill/>
          <a:ln>
            <a:solidFill>
              <a:srgbClr val="9311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La </a:t>
            </a:r>
            <a:r>
              <a:rPr lang="fr-FR" sz="1400" b="1" dirty="0">
                <a:solidFill>
                  <a:schemeClr val="tx1"/>
                </a:solidFill>
              </a:rPr>
              <a:t>COMPREHENSION MUTUELLE</a:t>
            </a:r>
          </a:p>
        </p:txBody>
      </p:sp>
      <p:sp>
        <p:nvSpPr>
          <p:cNvPr id="27" name="Triangle isocèle 26"/>
          <p:cNvSpPr/>
          <p:nvPr/>
        </p:nvSpPr>
        <p:spPr>
          <a:xfrm rot="5400000">
            <a:off x="2713587" y="3221833"/>
            <a:ext cx="1357322" cy="914400"/>
          </a:xfrm>
          <a:prstGeom prst="triangle">
            <a:avLst/>
          </a:prstGeom>
          <a:solidFill>
            <a:srgbClr val="D4D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D4D6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143108" y="214290"/>
            <a:ext cx="6786610" cy="1143000"/>
          </a:xfrm>
        </p:spPr>
        <p:txBody>
          <a:bodyPr>
            <a:normAutofit/>
          </a:bodyPr>
          <a:lstStyle/>
          <a:p>
            <a:pPr algn="l"/>
            <a:r>
              <a:rPr lang="fr-FR" sz="30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            C- La vente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57200" y="1600200"/>
            <a:ext cx="8543956" cy="4525963"/>
          </a:xfrm>
        </p:spPr>
        <p:txBody>
          <a:bodyPr/>
          <a:lstStyle/>
          <a:p>
            <a:pPr>
              <a:buNone/>
            </a:pPr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                                </a:t>
            </a:r>
            <a:endParaRPr lang="fr-FR" b="1" dirty="0">
              <a:solidFill>
                <a:srgbClr val="D4D600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Clr>
                <a:srgbClr val="D4D600"/>
              </a:buClr>
              <a:buNone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8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  <p:sp>
        <p:nvSpPr>
          <p:cNvPr id="11" name="Rectangle à coins arrondis 10"/>
          <p:cNvSpPr/>
          <p:nvPr/>
        </p:nvSpPr>
        <p:spPr>
          <a:xfrm>
            <a:off x="1000100" y="2500306"/>
            <a:ext cx="1785950" cy="1500198"/>
          </a:xfrm>
          <a:prstGeom prst="roundRect">
            <a:avLst/>
          </a:prstGeom>
          <a:noFill/>
          <a:ln>
            <a:solidFill>
              <a:srgbClr val="9311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FAITS</a:t>
            </a:r>
          </a:p>
          <a:p>
            <a:pPr algn="ctr"/>
            <a:r>
              <a:rPr lang="fr-FR" sz="1400" dirty="0">
                <a:solidFill>
                  <a:schemeClr val="tx1"/>
                </a:solidFill>
              </a:rPr>
              <a:t>Ce que je constate (vérifiable, </a:t>
            </a:r>
            <a:r>
              <a:rPr lang="fr-FR" sz="1400" dirty="0" err="1">
                <a:solidFill>
                  <a:schemeClr val="tx1"/>
                </a:solidFill>
              </a:rPr>
              <a:t>meurable</a:t>
            </a:r>
            <a:r>
              <a:rPr lang="fr-FR" sz="1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2" name="Triangle isocèle 21"/>
          <p:cNvSpPr/>
          <p:nvPr/>
        </p:nvSpPr>
        <p:spPr>
          <a:xfrm rot="10800000">
            <a:off x="4286248" y="4259720"/>
            <a:ext cx="785818" cy="500066"/>
          </a:xfrm>
          <a:prstGeom prst="triangle">
            <a:avLst/>
          </a:prstGeom>
          <a:solidFill>
            <a:srgbClr val="D4D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ZoneTexte 22"/>
          <p:cNvSpPr txBox="1"/>
          <p:nvPr/>
        </p:nvSpPr>
        <p:spPr>
          <a:xfrm>
            <a:off x="500034" y="1714488"/>
            <a:ext cx="60007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rgbClr val="E95D0F"/>
                </a:solidFill>
              </a:rPr>
              <a:t>La communication: qu’est-ce que c’est?</a:t>
            </a:r>
          </a:p>
        </p:txBody>
      </p:sp>
      <p:sp>
        <p:nvSpPr>
          <p:cNvPr id="25" name="Rectangle à coins arrondis 24"/>
          <p:cNvSpPr/>
          <p:nvPr/>
        </p:nvSpPr>
        <p:spPr>
          <a:xfrm>
            <a:off x="6715140" y="2500306"/>
            <a:ext cx="1785950" cy="1500198"/>
          </a:xfrm>
          <a:prstGeom prst="roundRect">
            <a:avLst/>
          </a:prstGeom>
          <a:noFill/>
          <a:ln>
            <a:solidFill>
              <a:srgbClr val="9311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RESSENTIR</a:t>
            </a:r>
          </a:p>
          <a:p>
            <a:pPr algn="ctr"/>
            <a:r>
              <a:rPr lang="fr-FR" sz="1400" dirty="0">
                <a:solidFill>
                  <a:schemeClr val="tx1"/>
                </a:solidFill>
              </a:rPr>
              <a:t>Ce que je ressens (mes émotions, peur, colère, déception, enthousiasme...)</a:t>
            </a:r>
          </a:p>
        </p:txBody>
      </p:sp>
      <p:sp>
        <p:nvSpPr>
          <p:cNvPr id="26" name="Rectangle à coins arrondis 25"/>
          <p:cNvSpPr/>
          <p:nvPr/>
        </p:nvSpPr>
        <p:spPr>
          <a:xfrm>
            <a:off x="3786182" y="2500306"/>
            <a:ext cx="1785950" cy="1500198"/>
          </a:xfrm>
          <a:prstGeom prst="roundRect">
            <a:avLst/>
          </a:prstGeom>
          <a:noFill/>
          <a:ln>
            <a:solidFill>
              <a:srgbClr val="9311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OPINIONS</a:t>
            </a:r>
          </a:p>
          <a:p>
            <a:pPr algn="ctr"/>
            <a:r>
              <a:rPr lang="fr-FR" sz="1400" dirty="0">
                <a:solidFill>
                  <a:schemeClr val="tx1"/>
                </a:solidFill>
              </a:rPr>
              <a:t>Ce que je pense (ma vision des choses)</a:t>
            </a:r>
          </a:p>
          <a:p>
            <a:pPr algn="ctr"/>
            <a:endParaRPr lang="fr-FR" sz="1400" b="1" dirty="0">
              <a:solidFill>
                <a:schemeClr val="tx1"/>
              </a:solidFill>
            </a:endParaRPr>
          </a:p>
        </p:txBody>
      </p:sp>
      <p:sp>
        <p:nvSpPr>
          <p:cNvPr id="27" name="Triangle isocèle 26"/>
          <p:cNvSpPr/>
          <p:nvPr/>
        </p:nvSpPr>
        <p:spPr>
          <a:xfrm rot="10800000">
            <a:off x="1500166" y="4231826"/>
            <a:ext cx="785818" cy="500066"/>
          </a:xfrm>
          <a:prstGeom prst="triangle">
            <a:avLst/>
          </a:prstGeom>
          <a:solidFill>
            <a:srgbClr val="D4D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D4D600"/>
              </a:solidFill>
            </a:endParaRPr>
          </a:p>
        </p:txBody>
      </p:sp>
      <p:sp>
        <p:nvSpPr>
          <p:cNvPr id="13" name="Triangle isocèle 12"/>
          <p:cNvSpPr/>
          <p:nvPr/>
        </p:nvSpPr>
        <p:spPr>
          <a:xfrm rot="10800000">
            <a:off x="7215206" y="4270606"/>
            <a:ext cx="785818" cy="500066"/>
          </a:xfrm>
          <a:prstGeom prst="triangle">
            <a:avLst/>
          </a:prstGeom>
          <a:solidFill>
            <a:srgbClr val="D4D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ZoneTexte 13"/>
          <p:cNvSpPr txBox="1"/>
          <p:nvPr/>
        </p:nvSpPr>
        <p:spPr>
          <a:xfrm>
            <a:off x="1142976" y="4929198"/>
            <a:ext cx="1571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Incontestable</a:t>
            </a:r>
          </a:p>
        </p:txBody>
      </p:sp>
      <p:sp>
        <p:nvSpPr>
          <p:cNvPr id="15" name="ZoneTexte 14"/>
          <p:cNvSpPr txBox="1"/>
          <p:nvPr/>
        </p:nvSpPr>
        <p:spPr>
          <a:xfrm>
            <a:off x="3857620" y="4950970"/>
            <a:ext cx="1562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Contestable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6929454" y="4929198"/>
            <a:ext cx="1571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Indiscutable</a:t>
            </a:r>
          </a:p>
        </p:txBody>
      </p:sp>
      <p:sp>
        <p:nvSpPr>
          <p:cNvPr id="17" name="ZoneTexte 16"/>
          <p:cNvSpPr txBox="1"/>
          <p:nvPr/>
        </p:nvSpPr>
        <p:spPr>
          <a:xfrm>
            <a:off x="1428728" y="5643578"/>
            <a:ext cx="6429420" cy="369332"/>
          </a:xfrm>
          <a:prstGeom prst="rect">
            <a:avLst/>
          </a:prstGeom>
          <a:noFill/>
          <a:ln w="19050">
            <a:solidFill>
              <a:srgbClr val="E95D0F"/>
            </a:solidFill>
          </a:ln>
        </p:spPr>
        <p:txBody>
          <a:bodyPr wrap="square" rtlCol="0">
            <a:spAutoFit/>
          </a:bodyPr>
          <a:lstStyle/>
          <a:p>
            <a:r>
              <a:rPr lang="fr-FR" b="1" dirty="0"/>
              <a:t>En vente, la vision partagée et objective ne porte que sur des faits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A- Le vendeur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57200" y="1857364"/>
            <a:ext cx="8229600" cy="4268799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Le vendeur efficace: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L’écoute active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L’observation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La réactivité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Le souci d’amener des solutions</a:t>
            </a:r>
          </a:p>
          <a:p>
            <a:pPr lvl="1"/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Font typeface="Wingdings" pitchFamily="2" charset="2"/>
              <a:buChar char="Ø"/>
            </a:pPr>
            <a:r>
              <a:rPr lang="fr-FR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2800" b="1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UN FACILITATEUR</a:t>
            </a:r>
          </a:p>
          <a:p>
            <a:pPr lvl="1">
              <a:buNone/>
            </a:pPr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2"/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1"/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1"/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1"/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9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785786" y="2643182"/>
            <a:ext cx="7358114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B- Qu’est-ce qu’un prospect?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10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B- Le prospect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28596" y="1928802"/>
            <a:ext cx="8229600" cy="4214842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De nombreuses facettes: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Une personne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Des exigences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Des motivations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Des freins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Des besoins</a:t>
            </a:r>
          </a:p>
          <a:p>
            <a:pPr lvl="1"/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Font typeface="Wingdings" pitchFamily="2" charset="2"/>
              <a:buChar char="Ø"/>
            </a:pPr>
            <a:r>
              <a:rPr lang="fr-FR" sz="3000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Des typologies</a:t>
            </a:r>
          </a:p>
          <a:p>
            <a:pPr lvl="1">
              <a:buNone/>
            </a:pPr>
            <a:endParaRPr lang="fr-FR" sz="10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11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785786" y="2643182"/>
            <a:ext cx="7358114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C- La vente: concrètement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12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C- La vente 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42844" y="1857364"/>
            <a:ext cx="8586790" cy="4357718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1- Les étapes de la vente</a:t>
            </a: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13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  <p:sp>
        <p:nvSpPr>
          <p:cNvPr id="8" name="Rectangle à coins arrondis 7"/>
          <p:cNvSpPr/>
          <p:nvPr/>
        </p:nvSpPr>
        <p:spPr>
          <a:xfrm>
            <a:off x="357158" y="2928934"/>
            <a:ext cx="3247368" cy="2445900"/>
          </a:xfrm>
          <a:prstGeom prst="roundRect">
            <a:avLst/>
          </a:prstGeom>
          <a:noFill/>
          <a:ln>
            <a:solidFill>
              <a:srgbClr val="9311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Préparation de la vente</a:t>
            </a:r>
          </a:p>
        </p:txBody>
      </p:sp>
      <p:sp>
        <p:nvSpPr>
          <p:cNvPr id="9" name="Triangle isocèle 8"/>
          <p:cNvSpPr/>
          <p:nvPr/>
        </p:nvSpPr>
        <p:spPr>
          <a:xfrm rot="5400000">
            <a:off x="4139632" y="3844360"/>
            <a:ext cx="1143008" cy="598040"/>
          </a:xfrm>
          <a:prstGeom prst="triangle">
            <a:avLst/>
          </a:prstGeom>
          <a:solidFill>
            <a:srgbClr val="D4D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à coins arrondis 10"/>
          <p:cNvSpPr/>
          <p:nvPr/>
        </p:nvSpPr>
        <p:spPr>
          <a:xfrm>
            <a:off x="5143504" y="2956828"/>
            <a:ext cx="2857520" cy="2357454"/>
          </a:xfrm>
          <a:prstGeom prst="roundRect">
            <a:avLst/>
          </a:prstGeom>
          <a:noFill/>
          <a:ln>
            <a:solidFill>
              <a:srgbClr val="9311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Vente physique ou téléphonique</a:t>
            </a:r>
          </a:p>
        </p:txBody>
      </p:sp>
      <p:sp>
        <p:nvSpPr>
          <p:cNvPr id="12" name="Triangle isocèle 11"/>
          <p:cNvSpPr/>
          <p:nvPr/>
        </p:nvSpPr>
        <p:spPr>
          <a:xfrm rot="5400000">
            <a:off x="3466414" y="3824970"/>
            <a:ext cx="1143008" cy="636820"/>
          </a:xfrm>
          <a:prstGeom prst="triangle">
            <a:avLst/>
          </a:prstGeom>
          <a:solidFill>
            <a:srgbClr val="D4D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D4D6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C- La vente 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42844" y="1857364"/>
            <a:ext cx="8586790" cy="4357718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1- Les étapes </a:t>
            </a:r>
            <a:r>
              <a:rPr lang="fr-FR" b="1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de la </a:t>
            </a:r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vente</a:t>
            </a: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14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  <p:sp>
        <p:nvSpPr>
          <p:cNvPr id="8" name="Rectangle à coins arrondis 7"/>
          <p:cNvSpPr/>
          <p:nvPr/>
        </p:nvSpPr>
        <p:spPr>
          <a:xfrm>
            <a:off x="110186" y="2983364"/>
            <a:ext cx="1214446" cy="1285884"/>
          </a:xfrm>
          <a:prstGeom prst="roundRect">
            <a:avLst/>
          </a:prstGeom>
          <a:noFill/>
          <a:ln>
            <a:solidFill>
              <a:srgbClr val="9311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Prise de contact</a:t>
            </a:r>
          </a:p>
        </p:txBody>
      </p:sp>
      <p:sp>
        <p:nvSpPr>
          <p:cNvPr id="9" name="Triangle isocèle 8"/>
          <p:cNvSpPr/>
          <p:nvPr/>
        </p:nvSpPr>
        <p:spPr>
          <a:xfrm rot="5400000">
            <a:off x="3027234" y="3415732"/>
            <a:ext cx="1143008" cy="598040"/>
          </a:xfrm>
          <a:prstGeom prst="triangle">
            <a:avLst/>
          </a:prstGeom>
          <a:solidFill>
            <a:srgbClr val="D4D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à coins arrondis 9"/>
          <p:cNvSpPr/>
          <p:nvPr/>
        </p:nvSpPr>
        <p:spPr>
          <a:xfrm>
            <a:off x="3953546" y="3071810"/>
            <a:ext cx="1223974" cy="1214446"/>
          </a:xfrm>
          <a:prstGeom prst="roundRect">
            <a:avLst/>
          </a:prstGeom>
          <a:noFill/>
          <a:ln>
            <a:solidFill>
              <a:srgbClr val="9311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Argumen</a:t>
            </a:r>
          </a:p>
          <a:p>
            <a:pPr algn="ctr"/>
            <a:r>
              <a:rPr lang="fr-FR" sz="1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tation</a:t>
            </a:r>
          </a:p>
        </p:txBody>
      </p:sp>
      <p:sp>
        <p:nvSpPr>
          <p:cNvPr id="11" name="Rectangle à coins arrondis 10"/>
          <p:cNvSpPr/>
          <p:nvPr/>
        </p:nvSpPr>
        <p:spPr>
          <a:xfrm>
            <a:off x="2063500" y="3000372"/>
            <a:ext cx="1169544" cy="1285884"/>
          </a:xfrm>
          <a:prstGeom prst="roundRect">
            <a:avLst/>
          </a:prstGeom>
          <a:noFill/>
          <a:ln>
            <a:solidFill>
              <a:srgbClr val="9311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Recensement des besoins</a:t>
            </a:r>
          </a:p>
        </p:txBody>
      </p:sp>
      <p:sp>
        <p:nvSpPr>
          <p:cNvPr id="12" name="Triangle isocèle 11"/>
          <p:cNvSpPr/>
          <p:nvPr/>
        </p:nvSpPr>
        <p:spPr>
          <a:xfrm rot="5400000">
            <a:off x="1139570" y="3396342"/>
            <a:ext cx="1143008" cy="636820"/>
          </a:xfrm>
          <a:prstGeom prst="triangle">
            <a:avLst/>
          </a:prstGeom>
          <a:solidFill>
            <a:srgbClr val="D4D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D4D600"/>
              </a:solidFill>
            </a:endParaRPr>
          </a:p>
        </p:txBody>
      </p:sp>
      <p:sp>
        <p:nvSpPr>
          <p:cNvPr id="13" name="Rectangle à coins arrondis 12"/>
          <p:cNvSpPr/>
          <p:nvPr/>
        </p:nvSpPr>
        <p:spPr>
          <a:xfrm>
            <a:off x="5936802" y="3071810"/>
            <a:ext cx="1214446" cy="1214446"/>
          </a:xfrm>
          <a:prstGeom prst="roundRect">
            <a:avLst/>
          </a:prstGeom>
          <a:noFill/>
          <a:ln>
            <a:solidFill>
              <a:srgbClr val="9311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Traitement des objections</a:t>
            </a:r>
          </a:p>
        </p:txBody>
      </p:sp>
      <p:sp>
        <p:nvSpPr>
          <p:cNvPr id="14" name="Rectangle à coins arrondis 13"/>
          <p:cNvSpPr/>
          <p:nvPr/>
        </p:nvSpPr>
        <p:spPr>
          <a:xfrm>
            <a:off x="7913904" y="3071810"/>
            <a:ext cx="1143008" cy="1214446"/>
          </a:xfrm>
          <a:prstGeom prst="roundRect">
            <a:avLst/>
          </a:prstGeom>
          <a:noFill/>
          <a:ln>
            <a:solidFill>
              <a:srgbClr val="9311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Prise de congés</a:t>
            </a:r>
          </a:p>
        </p:txBody>
      </p:sp>
      <p:sp>
        <p:nvSpPr>
          <p:cNvPr id="15" name="Triangle isocèle 14"/>
          <p:cNvSpPr/>
          <p:nvPr/>
        </p:nvSpPr>
        <p:spPr>
          <a:xfrm rot="5400000">
            <a:off x="4997222" y="3396342"/>
            <a:ext cx="1143008" cy="636820"/>
          </a:xfrm>
          <a:prstGeom prst="triangle">
            <a:avLst/>
          </a:prstGeom>
          <a:solidFill>
            <a:srgbClr val="D4D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D4D600"/>
              </a:solidFill>
            </a:endParaRPr>
          </a:p>
        </p:txBody>
      </p:sp>
      <p:sp>
        <p:nvSpPr>
          <p:cNvPr id="16" name="Triangle isocèle 15"/>
          <p:cNvSpPr/>
          <p:nvPr/>
        </p:nvSpPr>
        <p:spPr>
          <a:xfrm rot="5400000">
            <a:off x="6980478" y="3413350"/>
            <a:ext cx="1143008" cy="636820"/>
          </a:xfrm>
          <a:prstGeom prst="triangle">
            <a:avLst/>
          </a:prstGeom>
          <a:solidFill>
            <a:srgbClr val="D4D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D4D600"/>
              </a:solidFill>
            </a:endParaRPr>
          </a:p>
        </p:txBody>
      </p:sp>
      <p:sp>
        <p:nvSpPr>
          <p:cNvPr id="17" name="Rectangle à coins arrondis 16"/>
          <p:cNvSpPr/>
          <p:nvPr/>
        </p:nvSpPr>
        <p:spPr>
          <a:xfrm>
            <a:off x="3143240" y="4616910"/>
            <a:ext cx="1500198" cy="785818"/>
          </a:xfrm>
          <a:prstGeom prst="roundRect">
            <a:avLst/>
          </a:prstGeom>
          <a:noFill/>
          <a:ln>
            <a:solidFill>
              <a:srgbClr val="E95D0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Reformulation</a:t>
            </a:r>
          </a:p>
        </p:txBody>
      </p:sp>
      <p:sp>
        <p:nvSpPr>
          <p:cNvPr id="19" name="Rectangle à coins arrondis 18"/>
          <p:cNvSpPr/>
          <p:nvPr/>
        </p:nvSpPr>
        <p:spPr>
          <a:xfrm>
            <a:off x="6786578" y="4578130"/>
            <a:ext cx="1500198" cy="785818"/>
          </a:xfrm>
          <a:prstGeom prst="roundRect">
            <a:avLst/>
          </a:prstGeom>
          <a:noFill/>
          <a:ln>
            <a:solidFill>
              <a:srgbClr val="E95D0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Reformulation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C- La vente 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00034" y="1857364"/>
            <a:ext cx="8229600" cy="3929090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2- Et si vous observiez?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Observation physique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Observation du non-verbal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Observation de l’attitude</a:t>
            </a:r>
          </a:p>
          <a:p>
            <a:pPr lvl="1"/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Font typeface="Wingdings" pitchFamily="2" charset="2"/>
              <a:buChar char="Ø"/>
            </a:pPr>
            <a:r>
              <a:rPr lang="fr-FR" sz="2800" b="1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Pas de jugement</a:t>
            </a: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15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446665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C- La vente 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00034" y="1857364"/>
            <a:ext cx="8229600" cy="3929090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2- Et si vous observiez?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La bonne distance: intime, personnelle, sociale, publique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La gestuelle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La synchronisation</a:t>
            </a:r>
          </a:p>
          <a:p>
            <a:pPr lvl="1"/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Font typeface="Wingdings" pitchFamily="2" charset="2"/>
              <a:buChar char="Ø"/>
            </a:pPr>
            <a:r>
              <a:rPr lang="fr-FR" sz="2800" b="1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S’adapter</a:t>
            </a: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16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339752" y="172381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C- La vente 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00034" y="1857364"/>
            <a:ext cx="8229600" cy="3929090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3- Et si vous écoutiez?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Les termes employés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Le ton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Les termes employés</a:t>
            </a:r>
          </a:p>
          <a:p>
            <a:pPr lvl="1"/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Font typeface="Wingdings" pitchFamily="2" charset="2"/>
              <a:buChar char="Ø"/>
            </a:pPr>
            <a:r>
              <a:rPr lang="fr-FR" sz="2800" b="1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Enregistrez</a:t>
            </a: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17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  <p:sp>
        <p:nvSpPr>
          <p:cNvPr id="2" name="Rectangle à coins arrondis 1"/>
          <p:cNvSpPr/>
          <p:nvPr/>
        </p:nvSpPr>
        <p:spPr>
          <a:xfrm>
            <a:off x="5004048" y="3648108"/>
            <a:ext cx="3666244" cy="2423294"/>
          </a:xfrm>
          <a:prstGeom prst="roundRect">
            <a:avLst/>
          </a:prstGeom>
          <a:solidFill>
            <a:srgbClr val="E2007A"/>
          </a:solidFill>
          <a:ln>
            <a:solidFill>
              <a:srgbClr val="E200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« Parler est un besoin.</a:t>
            </a:r>
          </a:p>
          <a:p>
            <a:r>
              <a:rPr lang="fr-FR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Ecouter est un art. »</a:t>
            </a:r>
          </a:p>
          <a:p>
            <a:pPr algn="ctr"/>
            <a:endParaRPr lang="fr-FR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fr-F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Goethe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C- La vente 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00034" y="2000240"/>
            <a:ext cx="8229600" cy="3929090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4- Et si vous interrogiez?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Recenser le besoin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L’écoute active</a:t>
            </a:r>
          </a:p>
          <a:p>
            <a:pPr lvl="1"/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Font typeface="Wingdings" pitchFamily="2" charset="2"/>
              <a:buChar char="Ø"/>
            </a:pPr>
            <a:r>
              <a:rPr lang="fr-FR" sz="2800" b="1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La méthode AEC</a:t>
            </a:r>
          </a:p>
          <a:p>
            <a:pPr lvl="2">
              <a:buFont typeface="Wingdings" pitchFamily="2" charset="2"/>
              <a:buChar char="Ø"/>
            </a:pPr>
            <a:r>
              <a:rPr lang="fr-FR" sz="2800" b="1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Exercice</a:t>
            </a: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18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E820A929-EA98-4B9B-8DBE-A06AA3E673F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8500" t="26124" r="26375" b="5418"/>
          <a:stretch/>
        </p:blipFill>
        <p:spPr>
          <a:xfrm>
            <a:off x="4782562" y="3429000"/>
            <a:ext cx="4181926" cy="29273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C- La vente 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00034" y="2000240"/>
            <a:ext cx="8229600" cy="3929090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4- Et si vous interrogiez?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Recenser le besoin</a:t>
            </a:r>
          </a:p>
          <a:p>
            <a:pPr lvl="1"/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Font typeface="Wingdings" pitchFamily="2" charset="2"/>
              <a:buChar char="Ø"/>
            </a:pPr>
            <a:r>
              <a:rPr lang="fr-FR" sz="2800" b="1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Exercice</a:t>
            </a: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19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C- La vente 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00034" y="2000240"/>
            <a:ext cx="8229600" cy="3929090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5- Et si vous parliez peu?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Parler peu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Parler bien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Ecouter</a:t>
            </a:r>
          </a:p>
          <a:p>
            <a:pPr lvl="1"/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Font typeface="Wingdings" pitchFamily="2" charset="2"/>
              <a:buChar char="Ø"/>
            </a:pPr>
            <a:r>
              <a:rPr lang="fr-FR" sz="2800" b="1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Argumenter</a:t>
            </a: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20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C- La vente 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00034" y="2000240"/>
            <a:ext cx="8229600" cy="3929090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6- Et si vous argumentiez en vous adaptant au client?</a:t>
            </a:r>
          </a:p>
          <a:p>
            <a:pPr marL="0" indent="0">
              <a:buNone/>
            </a:pPr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	Un client = un argument clé</a:t>
            </a:r>
          </a:p>
          <a:p>
            <a:pPr lvl="1"/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Font typeface="Wingdings" pitchFamily="2" charset="2"/>
              <a:buChar char="Ø"/>
            </a:pPr>
            <a:r>
              <a:rPr lang="fr-FR" sz="2800" b="1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SONCAS</a:t>
            </a: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21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143108" y="214290"/>
            <a:ext cx="6786610" cy="1143000"/>
          </a:xfrm>
        </p:spPr>
        <p:txBody>
          <a:bodyPr>
            <a:normAutofit/>
          </a:bodyPr>
          <a:lstStyle/>
          <a:p>
            <a:pPr algn="l"/>
            <a:r>
              <a:rPr lang="fr-FR" sz="30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            C- La vente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57200" y="1600200"/>
            <a:ext cx="8543956" cy="4525963"/>
          </a:xfrm>
        </p:spPr>
        <p:txBody>
          <a:bodyPr/>
          <a:lstStyle/>
          <a:p>
            <a:pPr>
              <a:buNone/>
            </a:pPr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                                </a:t>
            </a:r>
            <a:r>
              <a:rPr lang="fr-FR" b="1" dirty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SONCAS</a:t>
            </a: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Clr>
                <a:srgbClr val="D4D600"/>
              </a:buClr>
              <a:buNone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22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  <p:sp>
        <p:nvSpPr>
          <p:cNvPr id="11" name="Rectangle à coins arrondis 10"/>
          <p:cNvSpPr/>
          <p:nvPr/>
        </p:nvSpPr>
        <p:spPr>
          <a:xfrm>
            <a:off x="1000100" y="2928934"/>
            <a:ext cx="1785950" cy="1500198"/>
          </a:xfrm>
          <a:prstGeom prst="roundRect">
            <a:avLst/>
          </a:prstGeom>
          <a:noFill/>
          <a:ln>
            <a:solidFill>
              <a:srgbClr val="9311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Ce que dit le prospect/client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43372" y="4572008"/>
            <a:ext cx="1643074" cy="428628"/>
          </a:xfrm>
          <a:prstGeom prst="rect">
            <a:avLst/>
          </a:prstGeom>
          <a:solidFill>
            <a:srgbClr val="E95D0F"/>
          </a:solidFill>
          <a:ln>
            <a:noFill/>
          </a:ln>
          <a:effectLst>
            <a:outerShdw blurRad="50800" dist="50800" dir="5400000" algn="ctr" rotWithShape="0">
              <a:schemeClr val="bg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Argent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143372" y="2285992"/>
            <a:ext cx="1643074" cy="428628"/>
          </a:xfrm>
          <a:prstGeom prst="rect">
            <a:avLst/>
          </a:prstGeom>
          <a:solidFill>
            <a:srgbClr val="E95D0F"/>
          </a:solidFill>
          <a:ln>
            <a:noFill/>
          </a:ln>
          <a:effectLst>
            <a:outerShdw blurRad="50800" dist="50800" dir="5400000" algn="ctr" rotWithShape="0">
              <a:schemeClr val="bg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Sécurité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143372" y="2857496"/>
            <a:ext cx="1643074" cy="428628"/>
          </a:xfrm>
          <a:prstGeom prst="rect">
            <a:avLst/>
          </a:prstGeom>
          <a:solidFill>
            <a:srgbClr val="E95D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Orgueil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143372" y="3429000"/>
            <a:ext cx="1643074" cy="428628"/>
          </a:xfrm>
          <a:prstGeom prst="rect">
            <a:avLst/>
          </a:prstGeom>
          <a:solidFill>
            <a:srgbClr val="E95D0F"/>
          </a:solidFill>
          <a:ln>
            <a:noFill/>
          </a:ln>
          <a:effectLst>
            <a:outerShdw blurRad="50800" dist="50800" dir="5400000" algn="ctr" rotWithShape="0">
              <a:schemeClr val="bg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Nouveauté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143372" y="4000504"/>
            <a:ext cx="1643074" cy="428628"/>
          </a:xfrm>
          <a:prstGeom prst="rect">
            <a:avLst/>
          </a:prstGeom>
          <a:solidFill>
            <a:srgbClr val="E95D0F"/>
          </a:solidFill>
          <a:ln>
            <a:noFill/>
          </a:ln>
          <a:effectLst>
            <a:outerShdw blurRad="50800" dist="50800" dir="5400000" algn="ctr" rotWithShape="0">
              <a:schemeClr val="bg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Confort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21" name="Triangle isocèle 20"/>
          <p:cNvSpPr/>
          <p:nvPr/>
        </p:nvSpPr>
        <p:spPr>
          <a:xfrm rot="16200000">
            <a:off x="2778903" y="3221833"/>
            <a:ext cx="1357322" cy="914400"/>
          </a:xfrm>
          <a:prstGeom prst="triangle">
            <a:avLst/>
          </a:prstGeom>
          <a:solidFill>
            <a:srgbClr val="E200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Triangle isocèle 21"/>
          <p:cNvSpPr/>
          <p:nvPr/>
        </p:nvSpPr>
        <p:spPr>
          <a:xfrm rot="5400000">
            <a:off x="5779299" y="3221833"/>
            <a:ext cx="1357322" cy="914400"/>
          </a:xfrm>
          <a:prstGeom prst="triangle">
            <a:avLst/>
          </a:prstGeom>
          <a:solidFill>
            <a:srgbClr val="E200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ZoneTexte 22"/>
          <p:cNvSpPr txBox="1"/>
          <p:nvPr/>
        </p:nvSpPr>
        <p:spPr>
          <a:xfrm>
            <a:off x="500034" y="1714488"/>
            <a:ext cx="1571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93117E"/>
                </a:solidFill>
              </a:rPr>
              <a:t>Les leviers: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43372" y="5143512"/>
            <a:ext cx="1643074" cy="428628"/>
          </a:xfrm>
          <a:prstGeom prst="rect">
            <a:avLst/>
          </a:prstGeom>
          <a:solidFill>
            <a:srgbClr val="E95D0F"/>
          </a:solidFill>
          <a:ln>
            <a:noFill/>
          </a:ln>
          <a:effectLst>
            <a:outerShdw blurRad="50800" dist="50800" dir="5400000" algn="ctr" rotWithShape="0">
              <a:schemeClr val="bg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Sympathie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25" name="Rectangle à coins arrondis 24"/>
          <p:cNvSpPr/>
          <p:nvPr/>
        </p:nvSpPr>
        <p:spPr>
          <a:xfrm>
            <a:off x="7072330" y="2928934"/>
            <a:ext cx="1785950" cy="1500198"/>
          </a:xfrm>
          <a:prstGeom prst="roundRect">
            <a:avLst/>
          </a:prstGeom>
          <a:noFill/>
          <a:ln>
            <a:solidFill>
              <a:srgbClr val="9311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Ce que dit le vendeur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C- La vente 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00034" y="2000240"/>
            <a:ext cx="8229600" cy="3929090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6- Et si vous argumentiez en vous adaptant au client?</a:t>
            </a:r>
          </a:p>
          <a:p>
            <a:pPr lvl="1">
              <a:buNone/>
            </a:pPr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Font typeface="Wingdings" pitchFamily="2" charset="2"/>
              <a:buChar char="Ø"/>
            </a:pPr>
            <a:r>
              <a:rPr lang="fr-FR" sz="2800" b="1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Exercice SIMAC</a:t>
            </a:r>
            <a:endParaRPr lang="fr-FR" sz="2800" b="1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23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C- La vente 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00034" y="2000240"/>
            <a:ext cx="8229600" cy="3929090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9- Et si vous receviez un cadeau?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L’objection</a:t>
            </a:r>
          </a:p>
          <a:p>
            <a:pPr lvl="1">
              <a:buNone/>
            </a:pPr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Font typeface="Wingdings" pitchFamily="2" charset="2"/>
              <a:buChar char="Ø"/>
            </a:pPr>
            <a:r>
              <a:rPr lang="fr-FR" sz="2800" b="1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Un cadeau pour conclure la vente</a:t>
            </a: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24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C- La vente 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00034" y="2000240"/>
            <a:ext cx="8229600" cy="3929090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9- Et si vous receviez un cadeau?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L’objection</a:t>
            </a:r>
          </a:p>
          <a:p>
            <a:pPr lvl="1">
              <a:buNone/>
            </a:pPr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Font typeface="Wingdings" pitchFamily="2" charset="2"/>
              <a:buChar char="Ø"/>
            </a:pPr>
            <a:r>
              <a:rPr lang="fr-FR" sz="2800" b="1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Exercice</a:t>
            </a: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25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C- La vente 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00034" y="2000240"/>
            <a:ext cx="8229600" cy="3929090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9- Et si vous receviez un cadeau?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L’objection </a:t>
            </a:r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prix</a:t>
            </a:r>
          </a:p>
          <a:p>
            <a:pPr lvl="1">
              <a:buNone/>
            </a:pPr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Font typeface="Wingdings" pitchFamily="2" charset="2"/>
              <a:buChar char="Ø"/>
            </a:pPr>
            <a:r>
              <a:rPr lang="fr-FR" sz="2800" b="1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Exercice</a:t>
            </a: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26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495571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C- La vente 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00034" y="2000240"/>
            <a:ext cx="8229600" cy="3929090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9- Et si vous receviez un cadeau?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L’objection</a:t>
            </a:r>
          </a:p>
          <a:p>
            <a:pPr lvl="1">
              <a:buNone/>
            </a:pPr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Font typeface="Wingdings" pitchFamily="2" charset="2"/>
              <a:buChar char="Ø"/>
            </a:pPr>
            <a:r>
              <a:rPr lang="fr-FR" sz="2800" b="1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Les tactiques de réfutation</a:t>
            </a:r>
          </a:p>
          <a:p>
            <a:pPr lvl="2">
              <a:buFont typeface="Wingdings" pitchFamily="2" charset="2"/>
              <a:buChar char="Ø"/>
            </a:pPr>
            <a:r>
              <a:rPr lang="fr-FR" sz="2800" b="1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La méthode SANDWICH</a:t>
            </a: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27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C- La vente 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683568" y="1588568"/>
            <a:ext cx="8229600" cy="4536504"/>
          </a:xfrm>
        </p:spPr>
        <p:txBody>
          <a:bodyPr>
            <a:normAutofit/>
          </a:bodyPr>
          <a:lstStyle/>
          <a:p>
            <a:pPr lvl="2">
              <a:buFont typeface="Wingdings" pitchFamily="2" charset="2"/>
              <a:buChar char="Ø"/>
            </a:pPr>
            <a:r>
              <a:rPr lang="fr-FR" sz="2800" b="1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La méthode SANDWICH</a:t>
            </a:r>
          </a:p>
          <a:p>
            <a:pPr lvl="2">
              <a:buFont typeface="Wingdings" pitchFamily="2" charset="2"/>
              <a:buChar char="Ø"/>
            </a:pPr>
            <a:endParaRPr lang="fr-FR" sz="2800" b="1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28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  <p:pic>
        <p:nvPicPr>
          <p:cNvPr id="3" name="Picture 2" descr="Afficher l'image d'origin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259" y="2348880"/>
            <a:ext cx="7710573" cy="3392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69796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C- La vente 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00034" y="2000240"/>
            <a:ext cx="8229600" cy="3929090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10- Apporter une solution pertinente au client</a:t>
            </a:r>
          </a:p>
          <a:p>
            <a:pPr lvl="1"/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Sa </a:t>
            </a:r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solution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Une solution sur-mesure</a:t>
            </a:r>
          </a:p>
          <a:p>
            <a:pPr lvl="1">
              <a:buNone/>
            </a:pPr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Font typeface="Wingdings" pitchFamily="2" charset="2"/>
              <a:buChar char="Ø"/>
            </a:pPr>
            <a:r>
              <a:rPr lang="fr-FR" sz="2800" b="1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Exercice</a:t>
            </a: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29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C- La vente 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00034" y="2000240"/>
            <a:ext cx="8229600" cy="3929090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11-Basculer de l’échange</a:t>
            </a:r>
          </a:p>
          <a:p>
            <a:pPr lvl="1"/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La phrase passerelle</a:t>
            </a:r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1">
              <a:buNone/>
            </a:pPr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Font typeface="Wingdings" pitchFamily="2" charset="2"/>
              <a:buChar char="Ø"/>
            </a:pPr>
            <a:r>
              <a:rPr lang="fr-FR" sz="2800" b="1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Exercice: créez la vôtre</a:t>
            </a: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30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253661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32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C- La vente 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00034" y="2000240"/>
            <a:ext cx="8229600" cy="3929090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12- La prise de congés professionnelle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Reformulation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Courtoisie</a:t>
            </a:r>
          </a:p>
          <a:p>
            <a:pPr lvl="1"/>
            <a:r>
              <a:rPr lang="fr-FR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Anticipation (prochaine visite)</a:t>
            </a:r>
          </a:p>
          <a:p>
            <a:pPr lvl="1">
              <a:buNone/>
            </a:pPr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marL="914400" lvl="2" indent="0">
              <a:buNone/>
            </a:pPr>
            <a:endParaRPr lang="fr-FR" sz="2800" b="1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31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431571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2285984" y="214290"/>
            <a:ext cx="5855848" cy="1143000"/>
          </a:xfrm>
        </p:spPr>
        <p:txBody>
          <a:bodyPr>
            <a:normAutofit/>
          </a:bodyPr>
          <a:lstStyle/>
          <a:p>
            <a:r>
              <a:rPr lang="fr-FR" sz="4000" b="1" dirty="0">
                <a:solidFill>
                  <a:srgbClr val="E95D0F"/>
                </a:solidFill>
                <a:latin typeface="Arial" pitchFamily="34" charset="0"/>
                <a:cs typeface="Arial" pitchFamily="34" charset="0"/>
              </a:rPr>
              <a:t>Vos objectifs 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00034" y="2000240"/>
            <a:ext cx="8229600" cy="3929090"/>
          </a:xfrm>
        </p:spPr>
        <p:txBody>
          <a:bodyPr>
            <a:normAutofit/>
          </a:bodyPr>
          <a:lstStyle/>
          <a:p>
            <a:r>
              <a:rPr lang="fr-FR" b="1" dirty="0">
                <a:solidFill>
                  <a:srgbClr val="93117E"/>
                </a:solidFill>
                <a:latin typeface="Arial" pitchFamily="34" charset="0"/>
                <a:cs typeface="Arial" pitchFamily="34" charset="0"/>
              </a:rPr>
              <a:t>EXERCICE: test NUF</a:t>
            </a:r>
          </a:p>
          <a:p>
            <a:pPr marL="0" indent="0">
              <a:buNone/>
            </a:pPr>
            <a:endParaRPr lang="fr-FR" dirty="0">
              <a:solidFill>
                <a:srgbClr val="93117E"/>
              </a:solidFill>
              <a:latin typeface="Arial" pitchFamily="34" charset="0"/>
              <a:cs typeface="Arial" pitchFamily="34" charset="0"/>
            </a:endParaRPr>
          </a:p>
          <a:p>
            <a:pPr lvl="1"/>
            <a:r>
              <a:rPr lang="fr-FR" dirty="0">
                <a:solidFill>
                  <a:srgbClr val="93117E"/>
                </a:solidFill>
                <a:latin typeface="Arial" pitchFamily="34" charset="0"/>
                <a:cs typeface="Arial" pitchFamily="34" charset="0"/>
              </a:rPr>
              <a:t>Concevez votre tableau Nouveau/ Utile/ Faisable, pour les suites à donner</a:t>
            </a:r>
          </a:p>
          <a:p>
            <a:pPr lvl="1"/>
            <a:r>
              <a:rPr lang="fr-FR" dirty="0">
                <a:solidFill>
                  <a:srgbClr val="93117E"/>
                </a:solidFill>
                <a:latin typeface="Arial" pitchFamily="34" charset="0"/>
                <a:cs typeface="Arial" pitchFamily="34" charset="0"/>
              </a:rPr>
              <a:t>Scorez</a:t>
            </a:r>
          </a:p>
          <a:p>
            <a:pPr lvl="1"/>
            <a:r>
              <a:rPr lang="fr-FR" dirty="0">
                <a:solidFill>
                  <a:srgbClr val="93117E"/>
                </a:solidFill>
                <a:latin typeface="Arial" pitchFamily="34" charset="0"/>
                <a:cs typeface="Arial" pitchFamily="34" charset="0"/>
              </a:rPr>
              <a:t>Décidez!</a:t>
            </a:r>
          </a:p>
          <a:p>
            <a:pPr lvl="1">
              <a:buNone/>
            </a:pPr>
            <a:endParaRPr lang="fr-FR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marL="914400" lvl="2" indent="0">
              <a:buNone/>
            </a:pPr>
            <a:endParaRPr lang="fr-FR" sz="2800" b="1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 lvl="3">
              <a:buNone/>
            </a:pPr>
            <a:endParaRPr lang="fr-FR" sz="1400" dirty="0">
              <a:solidFill>
                <a:srgbClr val="E95D0F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E2007A"/>
              </a:buClr>
              <a:buFont typeface="Wingdings" pitchFamily="2" charset="2"/>
              <a:buChar char="Ø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>
              <a:buClr>
                <a:srgbClr val="D4D600"/>
              </a:buClr>
              <a:buFont typeface="Wingdings" pitchFamily="2" charset="2"/>
              <a:buChar char="§"/>
            </a:pPr>
            <a:endParaRPr lang="fr-FR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32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388957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427984" y="2348880"/>
            <a:ext cx="4608512" cy="2498620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fr-FR" sz="3500" b="1" i="1" dirty="0">
                <a:solidFill>
                  <a:srgbClr val="E2007A"/>
                </a:solidFill>
                <a:latin typeface="Arial" pitchFamily="34" charset="0"/>
                <a:cs typeface="Arial" pitchFamily="34" charset="0"/>
              </a:rPr>
              <a:t>	Savoir écouter, c’est posséder, outre le sien, le cerveau des autres.</a:t>
            </a:r>
          </a:p>
          <a:p>
            <a:pPr>
              <a:buNone/>
            </a:pPr>
            <a:endParaRPr lang="fr-FR" b="1" i="1" dirty="0">
              <a:solidFill>
                <a:srgbClr val="E2007A"/>
              </a:solidFill>
              <a:latin typeface="Arial" pitchFamily="34" charset="0"/>
              <a:cs typeface="Arial" pitchFamily="34" charset="0"/>
            </a:endParaRPr>
          </a:p>
          <a:p>
            <a:pPr algn="r">
              <a:buNone/>
            </a:pPr>
            <a:r>
              <a:rPr lang="fr-FR" sz="2600" b="1" dirty="0">
                <a:solidFill>
                  <a:srgbClr val="D4D600"/>
                </a:solidFill>
                <a:latin typeface="Arial" pitchFamily="34" charset="0"/>
                <a:cs typeface="Arial" pitchFamily="34" charset="0"/>
              </a:rPr>
              <a:t>Leonard de Vinci</a:t>
            </a:r>
            <a:endParaRPr lang="fr-FR" sz="2600" dirty="0">
              <a:solidFill>
                <a:srgbClr val="D4D6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44C4B-DF67-4893-AC7A-6757B004DDEE}" type="slidenum">
              <a:rPr lang="fr-FR" smtClean="0"/>
              <a:pPr/>
              <a:t>33</a:t>
            </a:fld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NJM Conseil - njm.conseil@orange.fr</a:t>
            </a:r>
          </a:p>
        </p:txBody>
      </p:sp>
      <p:pic>
        <p:nvPicPr>
          <p:cNvPr id="1026" name="Picture 2" descr="C:\Users\Administrateur\Documents\MON PROJET\SUPPORTS COMM\IMAGES CHARTE NJM CONSEIL\Bloc-logo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214290"/>
            <a:ext cx="1928826" cy="1101091"/>
          </a:xfrm>
          <a:prstGeom prst="rect">
            <a:avLst/>
          </a:prstGeom>
          <a:noFill/>
        </p:spPr>
      </p:pic>
      <p:pic>
        <p:nvPicPr>
          <p:cNvPr id="2050" name="Picture 2" descr="Afficher l'image d'origin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44" y="2060848"/>
            <a:ext cx="4186436" cy="3139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1133</Words>
  <Application>Microsoft Office PowerPoint</Application>
  <PresentationFormat>Affichage à l'écran (4:3)</PresentationFormat>
  <Paragraphs>438</Paragraphs>
  <Slides>33</Slides>
  <Notes>26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33</vt:i4>
      </vt:variant>
    </vt:vector>
  </HeadingPairs>
  <TitlesOfParts>
    <vt:vector size="37" baseType="lpstr">
      <vt:lpstr>Arial</vt:lpstr>
      <vt:lpstr>Calibri</vt:lpstr>
      <vt:lpstr>Wingdings</vt:lpstr>
      <vt:lpstr>Thème Office</vt:lpstr>
      <vt:lpstr>Présentation PowerPoint</vt:lpstr>
      <vt:lpstr>OBJECTIFS</vt:lpstr>
      <vt:lpstr>A- Qu’est-ce qu’un vendeur?</vt:lpstr>
      <vt:lpstr>A- Le vendeur</vt:lpstr>
      <vt:lpstr>A- Le vendeur</vt:lpstr>
      <vt:lpstr>A- Le vendeur</vt:lpstr>
      <vt:lpstr>            C- La vente</vt:lpstr>
      <vt:lpstr>            C- La vente</vt:lpstr>
      <vt:lpstr>A- Le vendeur</vt:lpstr>
      <vt:lpstr>B- Qu’est-ce qu’un prospect?</vt:lpstr>
      <vt:lpstr>B- Le prospect</vt:lpstr>
      <vt:lpstr>C- La vente: concrètement</vt:lpstr>
      <vt:lpstr>C- La vente </vt:lpstr>
      <vt:lpstr>C- La vente </vt:lpstr>
      <vt:lpstr>C- La vente </vt:lpstr>
      <vt:lpstr>C- La vente </vt:lpstr>
      <vt:lpstr>C- La vente </vt:lpstr>
      <vt:lpstr>C- La vente </vt:lpstr>
      <vt:lpstr>C- La vente </vt:lpstr>
      <vt:lpstr>C- La vente </vt:lpstr>
      <vt:lpstr>C- La vente </vt:lpstr>
      <vt:lpstr>            C- La vente</vt:lpstr>
      <vt:lpstr>C- La vente </vt:lpstr>
      <vt:lpstr>C- La vente </vt:lpstr>
      <vt:lpstr>C- La vente </vt:lpstr>
      <vt:lpstr>C- La vente </vt:lpstr>
      <vt:lpstr>C- La vente </vt:lpstr>
      <vt:lpstr>C- La vente </vt:lpstr>
      <vt:lpstr>C- La vente </vt:lpstr>
      <vt:lpstr>C- La vente </vt:lpstr>
      <vt:lpstr>C- La vente </vt:lpstr>
      <vt:lpstr>Vos objectifs 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Administrateur</dc:creator>
  <cp:lastModifiedBy>nathalie joulie morand</cp:lastModifiedBy>
  <cp:revision>106</cp:revision>
  <dcterms:created xsi:type="dcterms:W3CDTF">2011-11-12T19:31:13Z</dcterms:created>
  <dcterms:modified xsi:type="dcterms:W3CDTF">2020-11-23T19:23:23Z</dcterms:modified>
</cp:coreProperties>
</file>