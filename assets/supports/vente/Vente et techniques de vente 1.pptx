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handoutMasterIdLst>
    <p:handoutMasterId r:id="rId41"/>
  </p:handoutMasterIdLst>
  <p:sldIdLst>
    <p:sldId id="256" r:id="rId2"/>
    <p:sldId id="309" r:id="rId3"/>
    <p:sldId id="351" r:id="rId4"/>
    <p:sldId id="278" r:id="rId5"/>
    <p:sldId id="319" r:id="rId6"/>
    <p:sldId id="352" r:id="rId7"/>
    <p:sldId id="261" r:id="rId8"/>
    <p:sldId id="338" r:id="rId9"/>
    <p:sldId id="321" r:id="rId10"/>
    <p:sldId id="279" r:id="rId11"/>
    <p:sldId id="267" r:id="rId12"/>
    <p:sldId id="323" r:id="rId13"/>
    <p:sldId id="341" r:id="rId14"/>
    <p:sldId id="339" r:id="rId15"/>
    <p:sldId id="268" r:id="rId16"/>
    <p:sldId id="340" r:id="rId17"/>
    <p:sldId id="350" r:id="rId18"/>
    <p:sldId id="337" r:id="rId19"/>
    <p:sldId id="324" r:id="rId20"/>
    <p:sldId id="325" r:id="rId21"/>
    <p:sldId id="326" r:id="rId22"/>
    <p:sldId id="327" r:id="rId23"/>
    <p:sldId id="328" r:id="rId24"/>
    <p:sldId id="335" r:id="rId25"/>
    <p:sldId id="329" r:id="rId26"/>
    <p:sldId id="348" r:id="rId27"/>
    <p:sldId id="346" r:id="rId28"/>
    <p:sldId id="330" r:id="rId29"/>
    <p:sldId id="331" r:id="rId30"/>
    <p:sldId id="347" r:id="rId31"/>
    <p:sldId id="336" r:id="rId32"/>
    <p:sldId id="345" r:id="rId33"/>
    <p:sldId id="332" r:id="rId34"/>
    <p:sldId id="349" r:id="rId35"/>
    <p:sldId id="343" r:id="rId36"/>
    <p:sldId id="342" r:id="rId37"/>
    <p:sldId id="344" r:id="rId38"/>
    <p:sldId id="316" r:id="rId3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3117E"/>
    <a:srgbClr val="E95D0F"/>
    <a:srgbClr val="E2007A"/>
    <a:srgbClr val="D4D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4" d="100"/>
          <a:sy n="74" d="100"/>
        </p:scale>
        <p:origin x="988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ULIE NATHALIE" userId="9584b74b320a978c" providerId="LiveId" clId="{9CDD9637-3E38-4231-BFD2-88FD5FBCCC7E}"/>
    <pc:docChg chg="modSld">
      <pc:chgData name="JOULIE NATHALIE" userId="9584b74b320a978c" providerId="LiveId" clId="{9CDD9637-3E38-4231-BFD2-88FD5FBCCC7E}" dt="2022-03-10T19:15:24.318" v="25" actId="20577"/>
      <pc:docMkLst>
        <pc:docMk/>
      </pc:docMkLst>
      <pc:sldChg chg="modSp mod">
        <pc:chgData name="JOULIE NATHALIE" userId="9584b74b320a978c" providerId="LiveId" clId="{9CDD9637-3E38-4231-BFD2-88FD5FBCCC7E}" dt="2022-03-10T19:15:24.318" v="25" actId="20577"/>
        <pc:sldMkLst>
          <pc:docMk/>
          <pc:sldMk cId="0" sldId="256"/>
        </pc:sldMkLst>
        <pc:spChg chg="mod">
          <ac:chgData name="JOULIE NATHALIE" userId="9584b74b320a978c" providerId="LiveId" clId="{9CDD9637-3E38-4231-BFD2-88FD5FBCCC7E}" dt="2022-03-10T19:15:24.318" v="25" actId="20577"/>
          <ac:spMkLst>
            <pc:docMk/>
            <pc:sldMk cId="0" sldId="256"/>
            <ac:spMk id="5" creationId="{00000000-0000-0000-0000-000000000000}"/>
          </ac:spMkLst>
        </pc:spChg>
      </pc:sldChg>
    </pc:docChg>
  </pc:docChgLst>
  <pc:docChgLst>
    <pc:chgData name="JOULIE NATHALIE" userId="9584b74b320a978c" providerId="LiveId" clId="{9C83D872-F7CD-4E95-9385-1F2167B7F348}"/>
    <pc:docChg chg="delSld">
      <pc:chgData name="JOULIE NATHALIE" userId="9584b74b320a978c" providerId="LiveId" clId="{9C83D872-F7CD-4E95-9385-1F2167B7F348}" dt="2024-01-11T08:34:25.705" v="0" actId="47"/>
      <pc:docMkLst>
        <pc:docMk/>
      </pc:docMkLst>
      <pc:sldChg chg="del">
        <pc:chgData name="JOULIE NATHALIE" userId="9584b74b320a978c" providerId="LiveId" clId="{9C83D872-F7CD-4E95-9385-1F2167B7F348}" dt="2024-01-11T08:34:25.705" v="0" actId="47"/>
        <pc:sldMkLst>
          <pc:docMk/>
          <pc:sldMk cId="1047726857" sldId="353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9409F54-0612-448F-AC71-A2A77452F36F}" type="doc">
      <dgm:prSet loTypeId="urn:microsoft.com/office/officeart/2005/8/layout/cycle1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D57856D8-43E4-42DF-9436-19A33189C4F5}">
      <dgm:prSet phldrT="[Texte]" custT="1"/>
      <dgm:spPr/>
      <dgm:t>
        <a:bodyPr/>
        <a:lstStyle/>
        <a:p>
          <a:r>
            <a:rPr lang="fr-FR" sz="2400" b="1" dirty="0">
              <a:solidFill>
                <a:srgbClr val="E2007A"/>
              </a:solidFill>
              <a:latin typeface="Arial" panose="020B0604020202020204" pitchFamily="34" charset="0"/>
              <a:cs typeface="Arial" panose="020B0604020202020204" pitchFamily="34" charset="0"/>
            </a:rPr>
            <a:t>Prospect</a:t>
          </a:r>
        </a:p>
      </dgm:t>
    </dgm:pt>
    <dgm:pt modelId="{343324A6-347C-43FC-8ED7-73AAD7DCCA90}" type="parTrans" cxnId="{1ECA2445-4534-4425-B930-036F8684E776}">
      <dgm:prSet/>
      <dgm:spPr/>
      <dgm:t>
        <a:bodyPr/>
        <a:lstStyle/>
        <a:p>
          <a:endParaRPr lang="fr-FR"/>
        </a:p>
      </dgm:t>
    </dgm:pt>
    <dgm:pt modelId="{88CF9743-E1EB-4FD5-9135-1959BBBBFA39}" type="sibTrans" cxnId="{1ECA2445-4534-4425-B930-036F8684E776}">
      <dgm:prSet/>
      <dgm:spPr>
        <a:solidFill>
          <a:srgbClr val="D4D600"/>
        </a:solidFill>
      </dgm:spPr>
      <dgm:t>
        <a:bodyPr/>
        <a:lstStyle/>
        <a:p>
          <a:endParaRPr lang="fr-FR"/>
        </a:p>
      </dgm:t>
    </dgm:pt>
    <dgm:pt modelId="{9EA06DD0-BECA-4725-9B61-6D5CF040A0E6}">
      <dgm:prSet phldrT="[Texte]" custT="1"/>
      <dgm:spPr/>
      <dgm:t>
        <a:bodyPr/>
        <a:lstStyle/>
        <a:p>
          <a:r>
            <a:rPr lang="fr-FR" sz="2400" b="1" dirty="0">
              <a:solidFill>
                <a:srgbClr val="E2007A"/>
              </a:solidFill>
              <a:latin typeface="Arial" panose="020B0604020202020204" pitchFamily="34" charset="0"/>
              <a:cs typeface="Arial" panose="020B0604020202020204" pitchFamily="34" charset="0"/>
            </a:rPr>
            <a:t>Acheteur</a:t>
          </a:r>
        </a:p>
      </dgm:t>
    </dgm:pt>
    <dgm:pt modelId="{F786FFD3-E83F-41EA-96E3-9763CC656BCB}" type="parTrans" cxnId="{1E8B5E3F-7AFC-48B1-9B04-CDE2DA49994B}">
      <dgm:prSet/>
      <dgm:spPr/>
      <dgm:t>
        <a:bodyPr/>
        <a:lstStyle/>
        <a:p>
          <a:endParaRPr lang="fr-FR"/>
        </a:p>
      </dgm:t>
    </dgm:pt>
    <dgm:pt modelId="{F2C9D400-6487-426A-99C3-D8807AEEA16E}" type="sibTrans" cxnId="{1E8B5E3F-7AFC-48B1-9B04-CDE2DA49994B}">
      <dgm:prSet/>
      <dgm:spPr>
        <a:solidFill>
          <a:srgbClr val="D4D600"/>
        </a:solidFill>
      </dgm:spPr>
      <dgm:t>
        <a:bodyPr/>
        <a:lstStyle/>
        <a:p>
          <a:endParaRPr lang="fr-FR"/>
        </a:p>
      </dgm:t>
    </dgm:pt>
    <dgm:pt modelId="{3FB64C25-2CFF-4698-83F4-E79E0C237A98}">
      <dgm:prSet phldrT="[Texte]" custT="1"/>
      <dgm:spPr/>
      <dgm:t>
        <a:bodyPr/>
        <a:lstStyle/>
        <a:p>
          <a:r>
            <a:rPr lang="fr-FR" sz="2400" b="1" dirty="0">
              <a:solidFill>
                <a:srgbClr val="E2007A"/>
              </a:solidFill>
              <a:latin typeface="Arial" panose="020B0604020202020204" pitchFamily="34" charset="0"/>
              <a:cs typeface="Arial" panose="020B0604020202020204" pitchFamily="34" charset="0"/>
            </a:rPr>
            <a:t>Client</a:t>
          </a:r>
        </a:p>
      </dgm:t>
    </dgm:pt>
    <dgm:pt modelId="{21F1A570-8EDD-460E-B76D-601E5A1BB302}" type="parTrans" cxnId="{86206368-277A-4C84-A1CF-B88B9CDC56A8}">
      <dgm:prSet/>
      <dgm:spPr/>
      <dgm:t>
        <a:bodyPr/>
        <a:lstStyle/>
        <a:p>
          <a:endParaRPr lang="fr-FR"/>
        </a:p>
      </dgm:t>
    </dgm:pt>
    <dgm:pt modelId="{851C4864-8E37-4D64-81C9-6224795CDB6A}" type="sibTrans" cxnId="{86206368-277A-4C84-A1CF-B88B9CDC56A8}">
      <dgm:prSet/>
      <dgm:spPr>
        <a:solidFill>
          <a:srgbClr val="D4D600"/>
        </a:solidFill>
      </dgm:spPr>
      <dgm:t>
        <a:bodyPr/>
        <a:lstStyle/>
        <a:p>
          <a:endParaRPr lang="fr-FR"/>
        </a:p>
      </dgm:t>
    </dgm:pt>
    <dgm:pt modelId="{71A0E665-F2EC-4601-B425-6BCAAFE2C718}">
      <dgm:prSet phldrT="[Texte]" custT="1"/>
      <dgm:spPr/>
      <dgm:t>
        <a:bodyPr/>
        <a:lstStyle/>
        <a:p>
          <a:r>
            <a:rPr lang="fr-FR" sz="2400" b="1" dirty="0">
              <a:solidFill>
                <a:srgbClr val="E2007A"/>
              </a:solidFill>
              <a:latin typeface="Arial" panose="020B0604020202020204" pitchFamily="34" charset="0"/>
              <a:cs typeface="Arial" panose="020B0604020202020204" pitchFamily="34" charset="0"/>
            </a:rPr>
            <a:t>Ré-achat</a:t>
          </a:r>
        </a:p>
      </dgm:t>
    </dgm:pt>
    <dgm:pt modelId="{0360F9F1-B155-48F3-BF37-CE6621308DB4}" type="parTrans" cxnId="{E589539A-F26C-4015-AD1E-9AFCD9245FD5}">
      <dgm:prSet/>
      <dgm:spPr/>
      <dgm:t>
        <a:bodyPr/>
        <a:lstStyle/>
        <a:p>
          <a:endParaRPr lang="fr-FR"/>
        </a:p>
      </dgm:t>
    </dgm:pt>
    <dgm:pt modelId="{F1FC7688-37F3-48E9-A0CF-AA2A28B589E1}" type="sibTrans" cxnId="{E589539A-F26C-4015-AD1E-9AFCD9245FD5}">
      <dgm:prSet/>
      <dgm:spPr>
        <a:solidFill>
          <a:srgbClr val="D4D600"/>
        </a:solidFill>
      </dgm:spPr>
      <dgm:t>
        <a:bodyPr/>
        <a:lstStyle/>
        <a:p>
          <a:endParaRPr lang="fr-FR"/>
        </a:p>
      </dgm:t>
    </dgm:pt>
    <dgm:pt modelId="{5A356922-8F72-4E35-B994-078A90B1F566}">
      <dgm:prSet phldrT="[Texte]" custT="1"/>
      <dgm:spPr/>
      <dgm:t>
        <a:bodyPr/>
        <a:lstStyle/>
        <a:p>
          <a:r>
            <a:rPr lang="fr-FR" sz="2400" b="1" dirty="0">
              <a:solidFill>
                <a:srgbClr val="E2007A"/>
              </a:solidFill>
              <a:latin typeface="Arial" panose="020B0604020202020204" pitchFamily="34" charset="0"/>
              <a:cs typeface="Arial" panose="020B0604020202020204" pitchFamily="34" charset="0"/>
            </a:rPr>
            <a:t>Prescripteur</a:t>
          </a:r>
        </a:p>
      </dgm:t>
    </dgm:pt>
    <dgm:pt modelId="{CE7DA32A-CBDB-468A-950C-102FB2868873}" type="parTrans" cxnId="{A6730E16-8562-4320-91CA-96229C0AC1C8}">
      <dgm:prSet/>
      <dgm:spPr/>
      <dgm:t>
        <a:bodyPr/>
        <a:lstStyle/>
        <a:p>
          <a:endParaRPr lang="fr-FR"/>
        </a:p>
      </dgm:t>
    </dgm:pt>
    <dgm:pt modelId="{2A2EB930-05F6-4798-98E9-42C9B63AF760}" type="sibTrans" cxnId="{A6730E16-8562-4320-91CA-96229C0AC1C8}">
      <dgm:prSet/>
      <dgm:spPr>
        <a:solidFill>
          <a:srgbClr val="D4D600"/>
        </a:solidFill>
      </dgm:spPr>
      <dgm:t>
        <a:bodyPr/>
        <a:lstStyle/>
        <a:p>
          <a:endParaRPr lang="fr-FR"/>
        </a:p>
      </dgm:t>
    </dgm:pt>
    <dgm:pt modelId="{2B645C13-E773-4DB9-8503-A250E437FEB8}" type="pres">
      <dgm:prSet presAssocID="{79409F54-0612-448F-AC71-A2A77452F36F}" presName="cycle" presStyleCnt="0">
        <dgm:presLayoutVars>
          <dgm:dir/>
          <dgm:resizeHandles val="exact"/>
        </dgm:presLayoutVars>
      </dgm:prSet>
      <dgm:spPr/>
    </dgm:pt>
    <dgm:pt modelId="{D0E33A06-F35A-4B2D-99A7-9F8C3FDD5870}" type="pres">
      <dgm:prSet presAssocID="{D57856D8-43E4-42DF-9436-19A33189C4F5}" presName="dummy" presStyleCnt="0"/>
      <dgm:spPr/>
    </dgm:pt>
    <dgm:pt modelId="{B9AC0F63-D598-45E2-91B8-478C5289468F}" type="pres">
      <dgm:prSet presAssocID="{D57856D8-43E4-42DF-9436-19A33189C4F5}" presName="node" presStyleLbl="revTx" presStyleIdx="0" presStyleCnt="5" custScaleX="134888" custRadScaleRad="105215" custRadScaleInc="-4002">
        <dgm:presLayoutVars>
          <dgm:bulletEnabled val="1"/>
        </dgm:presLayoutVars>
      </dgm:prSet>
      <dgm:spPr/>
    </dgm:pt>
    <dgm:pt modelId="{CEF4CFC9-E137-498B-9225-B44CCED25114}" type="pres">
      <dgm:prSet presAssocID="{88CF9743-E1EB-4FD5-9135-1959BBBBFA39}" presName="sibTrans" presStyleLbl="node1" presStyleIdx="0" presStyleCnt="5"/>
      <dgm:spPr/>
    </dgm:pt>
    <dgm:pt modelId="{1818AA9D-3080-4CAD-BFD7-43EC57C7B818}" type="pres">
      <dgm:prSet presAssocID="{9EA06DD0-BECA-4725-9B61-6D5CF040A0E6}" presName="dummy" presStyleCnt="0"/>
      <dgm:spPr/>
    </dgm:pt>
    <dgm:pt modelId="{197BBC97-F1E3-4D7A-ADF9-FA3873EB759B}" type="pres">
      <dgm:prSet presAssocID="{9EA06DD0-BECA-4725-9B61-6D5CF040A0E6}" presName="node" presStyleLbl="revTx" presStyleIdx="1" presStyleCnt="5" custScaleX="154822">
        <dgm:presLayoutVars>
          <dgm:bulletEnabled val="1"/>
        </dgm:presLayoutVars>
      </dgm:prSet>
      <dgm:spPr/>
    </dgm:pt>
    <dgm:pt modelId="{18BA3665-1999-4DD1-95D9-A4E19A33323D}" type="pres">
      <dgm:prSet presAssocID="{F2C9D400-6487-426A-99C3-D8807AEEA16E}" presName="sibTrans" presStyleLbl="node1" presStyleIdx="1" presStyleCnt="5"/>
      <dgm:spPr/>
    </dgm:pt>
    <dgm:pt modelId="{B4BD3F6E-6A50-4147-A57D-D2394FD81205}" type="pres">
      <dgm:prSet presAssocID="{3FB64C25-2CFF-4698-83F4-E79E0C237A98}" presName="dummy" presStyleCnt="0"/>
      <dgm:spPr/>
    </dgm:pt>
    <dgm:pt modelId="{ABC8302B-1B15-4737-AC1C-42F19914A25F}" type="pres">
      <dgm:prSet presAssocID="{3FB64C25-2CFF-4698-83F4-E79E0C237A98}" presName="node" presStyleLbl="revTx" presStyleIdx="2" presStyleCnt="5" custRadScaleRad="102571" custRadScaleInc="-8632">
        <dgm:presLayoutVars>
          <dgm:bulletEnabled val="1"/>
        </dgm:presLayoutVars>
      </dgm:prSet>
      <dgm:spPr/>
    </dgm:pt>
    <dgm:pt modelId="{0B3387F8-2D01-4C6B-9B63-6DAA8BF26D87}" type="pres">
      <dgm:prSet presAssocID="{851C4864-8E37-4D64-81C9-6224795CDB6A}" presName="sibTrans" presStyleLbl="node1" presStyleIdx="2" presStyleCnt="5"/>
      <dgm:spPr/>
    </dgm:pt>
    <dgm:pt modelId="{5C5A2465-EE41-44BE-904B-B812B8DF647A}" type="pres">
      <dgm:prSet presAssocID="{71A0E665-F2EC-4601-B425-6BCAAFE2C718}" presName="dummy" presStyleCnt="0"/>
      <dgm:spPr/>
    </dgm:pt>
    <dgm:pt modelId="{53260CBA-D556-4858-8CF3-03CC396DB962}" type="pres">
      <dgm:prSet presAssocID="{71A0E665-F2EC-4601-B425-6BCAAFE2C718}" presName="node" presStyleLbl="revTx" presStyleIdx="3" presStyleCnt="5" custScaleX="169754">
        <dgm:presLayoutVars>
          <dgm:bulletEnabled val="1"/>
        </dgm:presLayoutVars>
      </dgm:prSet>
      <dgm:spPr/>
    </dgm:pt>
    <dgm:pt modelId="{C5716E2C-C4D3-4C7E-B34A-C035E3604FB4}" type="pres">
      <dgm:prSet presAssocID="{F1FC7688-37F3-48E9-A0CF-AA2A28B589E1}" presName="sibTrans" presStyleLbl="node1" presStyleIdx="3" presStyleCnt="5" custScaleX="99278" custScaleY="103195"/>
      <dgm:spPr/>
    </dgm:pt>
    <dgm:pt modelId="{B63BD5E8-9743-4997-8A62-0EA4A5F90FA2}" type="pres">
      <dgm:prSet presAssocID="{5A356922-8F72-4E35-B994-078A90B1F566}" presName="dummy" presStyleCnt="0"/>
      <dgm:spPr/>
    </dgm:pt>
    <dgm:pt modelId="{F85B7195-4113-4A70-9FAB-20122B3A5415}" type="pres">
      <dgm:prSet presAssocID="{5A356922-8F72-4E35-B994-078A90B1F566}" presName="node" presStyleLbl="revTx" presStyleIdx="4" presStyleCnt="5" custScaleX="194397" custScaleY="72686" custRadScaleRad="108037" custRadScaleInc="-22961">
        <dgm:presLayoutVars>
          <dgm:bulletEnabled val="1"/>
        </dgm:presLayoutVars>
      </dgm:prSet>
      <dgm:spPr/>
    </dgm:pt>
    <dgm:pt modelId="{7C4DAABA-0C1F-489D-983E-29FA018E038A}" type="pres">
      <dgm:prSet presAssocID="{2A2EB930-05F6-4798-98E9-42C9B63AF760}" presName="sibTrans" presStyleLbl="node1" presStyleIdx="4" presStyleCnt="5" custLinFactNeighborX="-42" custLinFactNeighborY="-125"/>
      <dgm:spPr/>
    </dgm:pt>
  </dgm:ptLst>
  <dgm:cxnLst>
    <dgm:cxn modelId="{A6730E16-8562-4320-91CA-96229C0AC1C8}" srcId="{79409F54-0612-448F-AC71-A2A77452F36F}" destId="{5A356922-8F72-4E35-B994-078A90B1F566}" srcOrd="4" destOrd="0" parTransId="{CE7DA32A-CBDB-468A-950C-102FB2868873}" sibTransId="{2A2EB930-05F6-4798-98E9-42C9B63AF760}"/>
    <dgm:cxn modelId="{A51B9317-8DC8-4F59-8D6C-50E43C2913C2}" type="presOf" srcId="{F1FC7688-37F3-48E9-A0CF-AA2A28B589E1}" destId="{C5716E2C-C4D3-4C7E-B34A-C035E3604FB4}" srcOrd="0" destOrd="0" presId="urn:microsoft.com/office/officeart/2005/8/layout/cycle1"/>
    <dgm:cxn modelId="{1E8B5E3F-7AFC-48B1-9B04-CDE2DA49994B}" srcId="{79409F54-0612-448F-AC71-A2A77452F36F}" destId="{9EA06DD0-BECA-4725-9B61-6D5CF040A0E6}" srcOrd="1" destOrd="0" parTransId="{F786FFD3-E83F-41EA-96E3-9763CC656BCB}" sibTransId="{F2C9D400-6487-426A-99C3-D8807AEEA16E}"/>
    <dgm:cxn modelId="{1ECA2445-4534-4425-B930-036F8684E776}" srcId="{79409F54-0612-448F-AC71-A2A77452F36F}" destId="{D57856D8-43E4-42DF-9436-19A33189C4F5}" srcOrd="0" destOrd="0" parTransId="{343324A6-347C-43FC-8ED7-73AAD7DCCA90}" sibTransId="{88CF9743-E1EB-4FD5-9135-1959BBBBFA39}"/>
    <dgm:cxn modelId="{86206368-277A-4C84-A1CF-B88B9CDC56A8}" srcId="{79409F54-0612-448F-AC71-A2A77452F36F}" destId="{3FB64C25-2CFF-4698-83F4-E79E0C237A98}" srcOrd="2" destOrd="0" parTransId="{21F1A570-8EDD-460E-B76D-601E5A1BB302}" sibTransId="{851C4864-8E37-4D64-81C9-6224795CDB6A}"/>
    <dgm:cxn modelId="{D70E3D6A-F0DE-4BD1-9519-D8E9F286A95C}" type="presOf" srcId="{D57856D8-43E4-42DF-9436-19A33189C4F5}" destId="{B9AC0F63-D598-45E2-91B8-478C5289468F}" srcOrd="0" destOrd="0" presId="urn:microsoft.com/office/officeart/2005/8/layout/cycle1"/>
    <dgm:cxn modelId="{2540B253-BBF5-4CF2-B01D-6646FF88D441}" type="presOf" srcId="{2A2EB930-05F6-4798-98E9-42C9B63AF760}" destId="{7C4DAABA-0C1F-489D-983E-29FA018E038A}" srcOrd="0" destOrd="0" presId="urn:microsoft.com/office/officeart/2005/8/layout/cycle1"/>
    <dgm:cxn modelId="{277AB456-2BAD-4F15-875E-AFB4351C52FA}" type="presOf" srcId="{5A356922-8F72-4E35-B994-078A90B1F566}" destId="{F85B7195-4113-4A70-9FAB-20122B3A5415}" srcOrd="0" destOrd="0" presId="urn:microsoft.com/office/officeart/2005/8/layout/cycle1"/>
    <dgm:cxn modelId="{D5F4C179-A903-4948-BD4F-256B1C1E2343}" type="presOf" srcId="{851C4864-8E37-4D64-81C9-6224795CDB6A}" destId="{0B3387F8-2D01-4C6B-9B63-6DAA8BF26D87}" srcOrd="0" destOrd="0" presId="urn:microsoft.com/office/officeart/2005/8/layout/cycle1"/>
    <dgm:cxn modelId="{E589539A-F26C-4015-AD1E-9AFCD9245FD5}" srcId="{79409F54-0612-448F-AC71-A2A77452F36F}" destId="{71A0E665-F2EC-4601-B425-6BCAAFE2C718}" srcOrd="3" destOrd="0" parTransId="{0360F9F1-B155-48F3-BF37-CE6621308DB4}" sibTransId="{F1FC7688-37F3-48E9-A0CF-AA2A28B589E1}"/>
    <dgm:cxn modelId="{4477A5A3-6127-4715-BD57-E3BA13D54743}" type="presOf" srcId="{3FB64C25-2CFF-4698-83F4-E79E0C237A98}" destId="{ABC8302B-1B15-4737-AC1C-42F19914A25F}" srcOrd="0" destOrd="0" presId="urn:microsoft.com/office/officeart/2005/8/layout/cycle1"/>
    <dgm:cxn modelId="{252912AE-2924-4809-9EF8-5DF8D5034F34}" type="presOf" srcId="{88CF9743-E1EB-4FD5-9135-1959BBBBFA39}" destId="{CEF4CFC9-E137-498B-9225-B44CCED25114}" srcOrd="0" destOrd="0" presId="urn:microsoft.com/office/officeart/2005/8/layout/cycle1"/>
    <dgm:cxn modelId="{2D4EDBB0-AC51-4D40-9DD0-7CB3335515F1}" type="presOf" srcId="{79409F54-0612-448F-AC71-A2A77452F36F}" destId="{2B645C13-E773-4DB9-8503-A250E437FEB8}" srcOrd="0" destOrd="0" presId="urn:microsoft.com/office/officeart/2005/8/layout/cycle1"/>
    <dgm:cxn modelId="{755646B1-139A-4B4F-B215-B5EA913975E4}" type="presOf" srcId="{9EA06DD0-BECA-4725-9B61-6D5CF040A0E6}" destId="{197BBC97-F1E3-4D7A-ADF9-FA3873EB759B}" srcOrd="0" destOrd="0" presId="urn:microsoft.com/office/officeart/2005/8/layout/cycle1"/>
    <dgm:cxn modelId="{120563C0-713E-4AE7-A1FE-685BAFFBD616}" type="presOf" srcId="{71A0E665-F2EC-4601-B425-6BCAAFE2C718}" destId="{53260CBA-D556-4858-8CF3-03CC396DB962}" srcOrd="0" destOrd="0" presId="urn:microsoft.com/office/officeart/2005/8/layout/cycle1"/>
    <dgm:cxn modelId="{6298EEE2-5912-4215-9097-2047F2225DAB}" type="presOf" srcId="{F2C9D400-6487-426A-99C3-D8807AEEA16E}" destId="{18BA3665-1999-4DD1-95D9-A4E19A33323D}" srcOrd="0" destOrd="0" presId="urn:microsoft.com/office/officeart/2005/8/layout/cycle1"/>
    <dgm:cxn modelId="{C28C08C3-0118-458C-9F46-B82147CDAF0B}" type="presParOf" srcId="{2B645C13-E773-4DB9-8503-A250E437FEB8}" destId="{D0E33A06-F35A-4B2D-99A7-9F8C3FDD5870}" srcOrd="0" destOrd="0" presId="urn:microsoft.com/office/officeart/2005/8/layout/cycle1"/>
    <dgm:cxn modelId="{A36AD368-D0D8-4329-95D6-5C2AFFA5F5B1}" type="presParOf" srcId="{2B645C13-E773-4DB9-8503-A250E437FEB8}" destId="{B9AC0F63-D598-45E2-91B8-478C5289468F}" srcOrd="1" destOrd="0" presId="urn:microsoft.com/office/officeart/2005/8/layout/cycle1"/>
    <dgm:cxn modelId="{5C4F6769-415E-44D2-BEC9-0547F4601D03}" type="presParOf" srcId="{2B645C13-E773-4DB9-8503-A250E437FEB8}" destId="{CEF4CFC9-E137-498B-9225-B44CCED25114}" srcOrd="2" destOrd="0" presId="urn:microsoft.com/office/officeart/2005/8/layout/cycle1"/>
    <dgm:cxn modelId="{22D32A9C-C98E-4640-B2A1-6BA39134108D}" type="presParOf" srcId="{2B645C13-E773-4DB9-8503-A250E437FEB8}" destId="{1818AA9D-3080-4CAD-BFD7-43EC57C7B818}" srcOrd="3" destOrd="0" presId="urn:microsoft.com/office/officeart/2005/8/layout/cycle1"/>
    <dgm:cxn modelId="{D01690D3-BF43-42DE-BF13-EAC4BFFE2BB3}" type="presParOf" srcId="{2B645C13-E773-4DB9-8503-A250E437FEB8}" destId="{197BBC97-F1E3-4D7A-ADF9-FA3873EB759B}" srcOrd="4" destOrd="0" presId="urn:microsoft.com/office/officeart/2005/8/layout/cycle1"/>
    <dgm:cxn modelId="{8D58F9B5-41D0-4F55-A6D1-3EE7F485C666}" type="presParOf" srcId="{2B645C13-E773-4DB9-8503-A250E437FEB8}" destId="{18BA3665-1999-4DD1-95D9-A4E19A33323D}" srcOrd="5" destOrd="0" presId="urn:microsoft.com/office/officeart/2005/8/layout/cycle1"/>
    <dgm:cxn modelId="{CA1FF04A-DD07-46F1-BD3E-488DD5086DBA}" type="presParOf" srcId="{2B645C13-E773-4DB9-8503-A250E437FEB8}" destId="{B4BD3F6E-6A50-4147-A57D-D2394FD81205}" srcOrd="6" destOrd="0" presId="urn:microsoft.com/office/officeart/2005/8/layout/cycle1"/>
    <dgm:cxn modelId="{1AF26C9D-277C-4FC1-B84E-8F78E8D1893A}" type="presParOf" srcId="{2B645C13-E773-4DB9-8503-A250E437FEB8}" destId="{ABC8302B-1B15-4737-AC1C-42F19914A25F}" srcOrd="7" destOrd="0" presId="urn:microsoft.com/office/officeart/2005/8/layout/cycle1"/>
    <dgm:cxn modelId="{7EEA37D2-EEAE-42CE-B821-842EB3FCABDB}" type="presParOf" srcId="{2B645C13-E773-4DB9-8503-A250E437FEB8}" destId="{0B3387F8-2D01-4C6B-9B63-6DAA8BF26D87}" srcOrd="8" destOrd="0" presId="urn:microsoft.com/office/officeart/2005/8/layout/cycle1"/>
    <dgm:cxn modelId="{6640095C-8503-4165-BCFE-8EBCF3F83335}" type="presParOf" srcId="{2B645C13-E773-4DB9-8503-A250E437FEB8}" destId="{5C5A2465-EE41-44BE-904B-B812B8DF647A}" srcOrd="9" destOrd="0" presId="urn:microsoft.com/office/officeart/2005/8/layout/cycle1"/>
    <dgm:cxn modelId="{41DBA543-8B73-492D-8257-1B8A02104097}" type="presParOf" srcId="{2B645C13-E773-4DB9-8503-A250E437FEB8}" destId="{53260CBA-D556-4858-8CF3-03CC396DB962}" srcOrd="10" destOrd="0" presId="urn:microsoft.com/office/officeart/2005/8/layout/cycle1"/>
    <dgm:cxn modelId="{FC383B53-56BC-4AE6-B781-915EB476EA4A}" type="presParOf" srcId="{2B645C13-E773-4DB9-8503-A250E437FEB8}" destId="{C5716E2C-C4D3-4C7E-B34A-C035E3604FB4}" srcOrd="11" destOrd="0" presId="urn:microsoft.com/office/officeart/2005/8/layout/cycle1"/>
    <dgm:cxn modelId="{CB1F4F8F-6F1C-4567-8CD8-3E164C80C395}" type="presParOf" srcId="{2B645C13-E773-4DB9-8503-A250E437FEB8}" destId="{B63BD5E8-9743-4997-8A62-0EA4A5F90FA2}" srcOrd="12" destOrd="0" presId="urn:microsoft.com/office/officeart/2005/8/layout/cycle1"/>
    <dgm:cxn modelId="{325C693A-5F70-4921-90AE-39ED52436919}" type="presParOf" srcId="{2B645C13-E773-4DB9-8503-A250E437FEB8}" destId="{F85B7195-4113-4A70-9FAB-20122B3A5415}" srcOrd="13" destOrd="0" presId="urn:microsoft.com/office/officeart/2005/8/layout/cycle1"/>
    <dgm:cxn modelId="{89A809E5-6DBF-4EBD-AA19-78239678F4FB}" type="presParOf" srcId="{2B645C13-E773-4DB9-8503-A250E437FEB8}" destId="{7C4DAABA-0C1F-489D-983E-29FA018E038A}" srcOrd="14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AC0F63-D598-45E2-91B8-478C5289468F}">
      <dsp:nvSpPr>
        <dsp:cNvPr id="0" name=""/>
        <dsp:cNvSpPr/>
      </dsp:nvSpPr>
      <dsp:spPr>
        <a:xfrm>
          <a:off x="3384375" y="0"/>
          <a:ext cx="1480320" cy="10974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b="1" kern="1200" dirty="0">
              <a:solidFill>
                <a:srgbClr val="E2007A"/>
              </a:solidFill>
              <a:latin typeface="Arial" panose="020B0604020202020204" pitchFamily="34" charset="0"/>
              <a:cs typeface="Arial" panose="020B0604020202020204" pitchFamily="34" charset="0"/>
            </a:rPr>
            <a:t>Prospect</a:t>
          </a:r>
        </a:p>
      </dsp:txBody>
      <dsp:txXfrm>
        <a:off x="3384375" y="0"/>
        <a:ext cx="1480320" cy="1097444"/>
      </dsp:txXfrm>
    </dsp:sp>
    <dsp:sp modelId="{CEF4CFC9-E137-498B-9225-B44CCED25114}">
      <dsp:nvSpPr>
        <dsp:cNvPr id="0" name=""/>
        <dsp:cNvSpPr/>
      </dsp:nvSpPr>
      <dsp:spPr>
        <a:xfrm>
          <a:off x="967128" y="-82457"/>
          <a:ext cx="4114533" cy="4114533"/>
        </a:xfrm>
        <a:prstGeom prst="circularArrow">
          <a:avLst>
            <a:gd name="adj1" fmla="val 5201"/>
            <a:gd name="adj2" fmla="val 335983"/>
            <a:gd name="adj3" fmla="val 21448758"/>
            <a:gd name="adj4" fmla="val 19876391"/>
            <a:gd name="adj5" fmla="val 6068"/>
          </a:avLst>
        </a:prstGeom>
        <a:solidFill>
          <a:srgbClr val="D4D6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7BBC97-F1E3-4D7A-ADF9-FA3873EB759B}">
      <dsp:nvSpPr>
        <dsp:cNvPr id="0" name=""/>
        <dsp:cNvSpPr/>
      </dsp:nvSpPr>
      <dsp:spPr>
        <a:xfrm>
          <a:off x="3908370" y="2072858"/>
          <a:ext cx="1699085" cy="10974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b="1" kern="1200" dirty="0">
              <a:solidFill>
                <a:srgbClr val="E2007A"/>
              </a:solidFill>
              <a:latin typeface="Arial" panose="020B0604020202020204" pitchFamily="34" charset="0"/>
              <a:cs typeface="Arial" panose="020B0604020202020204" pitchFamily="34" charset="0"/>
            </a:rPr>
            <a:t>Acheteur</a:t>
          </a:r>
        </a:p>
      </dsp:txBody>
      <dsp:txXfrm>
        <a:off x="3908370" y="2072858"/>
        <a:ext cx="1699085" cy="1097444"/>
      </dsp:txXfrm>
    </dsp:sp>
    <dsp:sp modelId="{18BA3665-1999-4DD1-95D9-A4E19A33323D}">
      <dsp:nvSpPr>
        <dsp:cNvPr id="0" name=""/>
        <dsp:cNvSpPr/>
      </dsp:nvSpPr>
      <dsp:spPr>
        <a:xfrm>
          <a:off x="961352" y="4406"/>
          <a:ext cx="4114533" cy="4114533"/>
        </a:xfrm>
        <a:prstGeom prst="circularArrow">
          <a:avLst>
            <a:gd name="adj1" fmla="val 5201"/>
            <a:gd name="adj2" fmla="val 335983"/>
            <a:gd name="adj3" fmla="val 3873473"/>
            <a:gd name="adj4" fmla="val 2243781"/>
            <a:gd name="adj5" fmla="val 6068"/>
          </a:avLst>
        </a:prstGeom>
        <a:solidFill>
          <a:srgbClr val="D4D6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C8302B-1B15-4737-AC1C-42F19914A25F}">
      <dsp:nvSpPr>
        <dsp:cNvPr id="0" name=""/>
        <dsp:cNvSpPr/>
      </dsp:nvSpPr>
      <dsp:spPr>
        <a:xfrm>
          <a:off x="2540787" y="3335797"/>
          <a:ext cx="1097444" cy="10974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b="1" kern="1200" dirty="0">
              <a:solidFill>
                <a:srgbClr val="E2007A"/>
              </a:solidFill>
              <a:latin typeface="Arial" panose="020B0604020202020204" pitchFamily="34" charset="0"/>
              <a:cs typeface="Arial" panose="020B0604020202020204" pitchFamily="34" charset="0"/>
            </a:rPr>
            <a:t>Client</a:t>
          </a:r>
        </a:p>
      </dsp:txBody>
      <dsp:txXfrm>
        <a:off x="2540787" y="3335797"/>
        <a:ext cx="1097444" cy="1097444"/>
      </dsp:txXfrm>
    </dsp:sp>
    <dsp:sp modelId="{0B3387F8-2D01-4C6B-9B63-6DAA8BF26D87}">
      <dsp:nvSpPr>
        <dsp:cNvPr id="0" name=""/>
        <dsp:cNvSpPr/>
      </dsp:nvSpPr>
      <dsp:spPr>
        <a:xfrm>
          <a:off x="967427" y="3965"/>
          <a:ext cx="4114533" cy="4114533"/>
        </a:xfrm>
        <a:prstGeom prst="circularArrow">
          <a:avLst>
            <a:gd name="adj1" fmla="val 5201"/>
            <a:gd name="adj2" fmla="val 335983"/>
            <a:gd name="adj3" fmla="val 8219192"/>
            <a:gd name="adj4" fmla="val 6322342"/>
            <a:gd name="adj5" fmla="val 6068"/>
          </a:avLst>
        </a:prstGeom>
        <a:solidFill>
          <a:srgbClr val="D4D6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260CBA-D556-4858-8CF3-03CC396DB962}">
      <dsp:nvSpPr>
        <dsp:cNvPr id="0" name=""/>
        <dsp:cNvSpPr/>
      </dsp:nvSpPr>
      <dsp:spPr>
        <a:xfrm>
          <a:off x="354258" y="2072858"/>
          <a:ext cx="1862955" cy="10974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b="1" kern="1200" dirty="0">
              <a:solidFill>
                <a:srgbClr val="E2007A"/>
              </a:solidFill>
              <a:latin typeface="Arial" panose="020B0604020202020204" pitchFamily="34" charset="0"/>
              <a:cs typeface="Arial" panose="020B0604020202020204" pitchFamily="34" charset="0"/>
            </a:rPr>
            <a:t>Ré-achat</a:t>
          </a:r>
        </a:p>
      </dsp:txBody>
      <dsp:txXfrm>
        <a:off x="354258" y="2072858"/>
        <a:ext cx="1862955" cy="1097444"/>
      </dsp:txXfrm>
    </dsp:sp>
    <dsp:sp modelId="{C5716E2C-C4D3-4C7E-B34A-C035E3604FB4}">
      <dsp:nvSpPr>
        <dsp:cNvPr id="0" name=""/>
        <dsp:cNvSpPr/>
      </dsp:nvSpPr>
      <dsp:spPr>
        <a:xfrm>
          <a:off x="958882" y="-323561"/>
          <a:ext cx="4084826" cy="4245992"/>
        </a:xfrm>
        <a:prstGeom prst="circularArrow">
          <a:avLst>
            <a:gd name="adj1" fmla="val 5201"/>
            <a:gd name="adj2" fmla="val 335983"/>
            <a:gd name="adj3" fmla="val 12065388"/>
            <a:gd name="adj4" fmla="val 10283128"/>
            <a:gd name="adj5" fmla="val 6068"/>
          </a:avLst>
        </a:prstGeom>
        <a:solidFill>
          <a:srgbClr val="D4D6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5B7195-4113-4A70-9FAB-20122B3A5415}">
      <dsp:nvSpPr>
        <dsp:cNvPr id="0" name=""/>
        <dsp:cNvSpPr/>
      </dsp:nvSpPr>
      <dsp:spPr>
        <a:xfrm>
          <a:off x="648070" y="181843"/>
          <a:ext cx="2133399" cy="7976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b="1" kern="1200" dirty="0">
              <a:solidFill>
                <a:srgbClr val="E2007A"/>
              </a:solidFill>
              <a:latin typeface="Arial" panose="020B0604020202020204" pitchFamily="34" charset="0"/>
              <a:cs typeface="Arial" panose="020B0604020202020204" pitchFamily="34" charset="0"/>
            </a:rPr>
            <a:t>Prescripteur</a:t>
          </a:r>
        </a:p>
      </dsp:txBody>
      <dsp:txXfrm>
        <a:off x="648070" y="181843"/>
        <a:ext cx="2133399" cy="797688"/>
      </dsp:txXfrm>
    </dsp:sp>
    <dsp:sp modelId="{7C4DAABA-0C1F-489D-983E-29FA018E038A}">
      <dsp:nvSpPr>
        <dsp:cNvPr id="0" name=""/>
        <dsp:cNvSpPr/>
      </dsp:nvSpPr>
      <dsp:spPr>
        <a:xfrm>
          <a:off x="762811" y="-101616"/>
          <a:ext cx="4114533" cy="4114533"/>
        </a:xfrm>
        <a:prstGeom prst="circularArrow">
          <a:avLst>
            <a:gd name="adj1" fmla="val 5201"/>
            <a:gd name="adj2" fmla="val 335983"/>
            <a:gd name="adj3" fmla="val 16941009"/>
            <a:gd name="adj4" fmla="val 15422549"/>
            <a:gd name="adj5" fmla="val 6068"/>
          </a:avLst>
        </a:prstGeom>
        <a:solidFill>
          <a:srgbClr val="D4D6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E72972-53CD-4AB0-A480-59059EAA09C8}" type="datetimeFigureOut">
              <a:rPr lang="fr-FR" smtClean="0"/>
              <a:pPr/>
              <a:t>11/01/2024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DFDEF2-D5CA-4DDD-B4CB-69B5EFB346C7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61523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2DDB25-55EB-472D-8B07-AF81CF403AB0}" type="datetimeFigureOut">
              <a:rPr lang="fr-FR" smtClean="0"/>
              <a:pPr/>
              <a:t>11/01/2024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95A461-29CF-4583-A100-9C757AF6BFA7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92116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880073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41364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812444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64%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935554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433267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49663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En 30 secondes écrivez vos axes principaux pour l’année à venir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82131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28519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56096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19917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22746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13740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8981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17707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96441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05166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153247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360021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187679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27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082344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28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5652766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29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4579649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30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902811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31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626270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fr-FR" dirty="0"/>
              <a:t>EXEMPLE</a:t>
            </a:r>
            <a:r>
              <a:rPr lang="fr-FR" baseline="0" dirty="0"/>
              <a:t> </a:t>
            </a:r>
            <a:r>
              <a:rPr lang="fr-F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C’est une production intéressante. J’ai particulièrement apprécié…</a:t>
            </a:r>
          </a:p>
          <a:p>
            <a:pPr fontAlgn="base"/>
            <a:r>
              <a:rPr lang="fr-F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aurais pu davantage développer….</a:t>
            </a:r>
          </a:p>
          <a:p>
            <a:pPr fontAlgn="base"/>
            <a:r>
              <a:rPr lang="fr-F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Cela reste un très bon travail, très précis, détaillé et argumenté…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32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443829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97% des</a:t>
            </a:r>
            <a:r>
              <a:rPr lang="fr-FR" baseline="0" dirty="0"/>
              <a:t> étudiants, 30% des retraités INSEE 2010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33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115071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97% des</a:t>
            </a:r>
            <a:r>
              <a:rPr lang="fr-FR" baseline="0" dirty="0"/>
              <a:t> étudiants, 30% des retraités INSEE 2010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34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36198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fontAlgn="base"/>
            <a:endParaRPr lang="fr-FR" sz="1200" b="0" i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35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406568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97% des</a:t>
            </a:r>
            <a:r>
              <a:rPr lang="fr-FR" baseline="0" dirty="0"/>
              <a:t> étudiants, 30% des retraités INSEE 2010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36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00565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97% des</a:t>
            </a:r>
            <a:r>
              <a:rPr lang="fr-FR" baseline="0" dirty="0"/>
              <a:t> étudiants, 30% des retraités INSEE 2010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37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012289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38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573025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DA5F6-5D02-4672-92E3-CDE56371D971}" type="datetime1">
              <a:rPr lang="fr-FR" smtClean="0"/>
              <a:pPr/>
              <a:t>11/01/2024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AAFFA-6257-4970-82D8-A6C805899C9D}" type="datetime1">
              <a:rPr lang="fr-FR" smtClean="0"/>
              <a:pPr/>
              <a:t>11/01/2024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6FB05-901D-4921-8A64-3AEBF7820156}" type="datetime1">
              <a:rPr lang="fr-FR" smtClean="0"/>
              <a:pPr/>
              <a:t>11/01/2024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53CC7-8A61-4E5D-92E5-E8AABE5A2EE7}" type="datetime1">
              <a:rPr lang="fr-FR" smtClean="0"/>
              <a:pPr/>
              <a:t>11/01/2024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238C5-E2A4-4A73-AAEB-6C59E93FE46F}" type="datetime1">
              <a:rPr lang="fr-FR" smtClean="0"/>
              <a:pPr/>
              <a:t>11/01/2024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41288-5FAF-442B-993A-07438DEBE7FD}" type="datetime1">
              <a:rPr lang="fr-FR" smtClean="0"/>
              <a:pPr/>
              <a:t>11/01/2024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F3DF1-845C-40AE-9586-CA470B3271BF}" type="datetime1">
              <a:rPr lang="fr-FR" smtClean="0"/>
              <a:pPr/>
              <a:t>11/01/2024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989FE-3355-4CEA-8D36-3B19D2C3D317}" type="datetime1">
              <a:rPr lang="fr-FR" smtClean="0"/>
              <a:pPr/>
              <a:t>11/01/2024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29672-4337-4698-8D7C-B82DC3C18DBD}" type="datetime1">
              <a:rPr lang="fr-FR" smtClean="0"/>
              <a:pPr/>
              <a:t>11/01/2024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2A144-BD82-4F67-8B0F-DBF01102429E}" type="datetime1">
              <a:rPr lang="fr-FR" smtClean="0"/>
              <a:pPr/>
              <a:t>11/01/2024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31500-D00B-4AF4-B5B4-1FAB4B1266C3}" type="datetime1">
              <a:rPr lang="fr-FR" smtClean="0"/>
              <a:pPr/>
              <a:t>11/01/2024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07669E-A44D-49CA-9E5C-C2D471D984C4}" type="datetime1">
              <a:rPr lang="fr-FR" smtClean="0"/>
              <a:pPr/>
              <a:t>11/01/2024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fr-FR"/>
              <a:t>NJM Conseil - njm.conseil@orange.fr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D44C4B-DF67-4893-AC7A-6757B004DDE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jpe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3043246"/>
          </a:xfrm>
        </p:spPr>
        <p:txBody>
          <a:bodyPr>
            <a:normAutofit fontScale="25000" lnSpcReduction="20000"/>
          </a:bodyPr>
          <a:lstStyle/>
          <a:p>
            <a:pPr algn="ctr">
              <a:buNone/>
            </a:pPr>
            <a:endParaRPr lang="fr-FR" sz="58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algn="ctr">
              <a:buNone/>
            </a:pPr>
            <a:endParaRPr lang="fr-FR" sz="58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algn="ctr">
              <a:buNone/>
            </a:pPr>
            <a:r>
              <a:rPr lang="fr-FR" sz="21600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VENTE ET TECHNIQUES DE VENTE</a:t>
            </a:r>
          </a:p>
          <a:p>
            <a:pPr algn="ctr">
              <a:buNone/>
            </a:pPr>
            <a:endParaRPr lang="fr-FR" sz="216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fr-FR" sz="6400" dirty="0">
              <a:solidFill>
                <a:srgbClr val="D4D600"/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fr-FR" sz="6400" dirty="0">
                <a:solidFill>
                  <a:srgbClr val="D4D600"/>
                </a:solidFill>
                <a:latin typeface="Arial" pitchFamily="34" charset="0"/>
                <a:cs typeface="Arial" pitchFamily="34" charset="0"/>
              </a:rPr>
              <a:t>Nathalie JOULIE-MORAND</a:t>
            </a:r>
          </a:p>
          <a:p>
            <a:pPr>
              <a:buNone/>
            </a:pPr>
            <a:r>
              <a:rPr lang="fr-FR" sz="6400" dirty="0">
                <a:solidFill>
                  <a:srgbClr val="D4D600"/>
                </a:solidFill>
                <a:latin typeface="Arial" pitchFamily="34" charset="0"/>
                <a:cs typeface="Arial" pitchFamily="34" charset="0"/>
              </a:rPr>
              <a:t>NJM Conseil Le Cassan 12 330 Clairvaux d’Aveyron</a:t>
            </a:r>
          </a:p>
          <a:p>
            <a:pPr>
              <a:buNone/>
            </a:pPr>
            <a:r>
              <a:rPr lang="fr-FR" sz="6400" dirty="0">
                <a:solidFill>
                  <a:srgbClr val="D4D600"/>
                </a:solidFill>
                <a:latin typeface="Arial" pitchFamily="34" charset="0"/>
                <a:cs typeface="Arial" pitchFamily="34" charset="0"/>
              </a:rPr>
              <a:t>06 88 10 40 67 </a:t>
            </a:r>
          </a:p>
          <a:p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fr-FR" sz="4000" dirty="0">
              <a:solidFill>
                <a:srgbClr val="D4D6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1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3112981" y="485867"/>
            <a:ext cx="5154366" cy="858966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OBJECTIFS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2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E1F58DDE-74ED-4F9A-BC64-5E5BBFECFECB}"/>
              </a:ext>
            </a:extLst>
          </p:cNvPr>
          <p:cNvSpPr txBox="1"/>
          <p:nvPr/>
        </p:nvSpPr>
        <p:spPr>
          <a:xfrm>
            <a:off x="647564" y="1719745"/>
            <a:ext cx="784887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rgbClr val="E95D0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-être capable de mettre en œuvre les techniques d’écoute active tout en menant la direction de la vente</a:t>
            </a:r>
          </a:p>
          <a:p>
            <a:endParaRPr lang="fr-FR" sz="3600" dirty="0">
              <a:solidFill>
                <a:srgbClr val="E95D0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3600" dirty="0">
                <a:solidFill>
                  <a:srgbClr val="E95D0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-être capable de valoriser les prix et services </a:t>
            </a:r>
          </a:p>
          <a:p>
            <a:endParaRPr lang="fr-FR" sz="3600" dirty="0">
              <a:solidFill>
                <a:srgbClr val="E95D0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3600" dirty="0">
                <a:solidFill>
                  <a:srgbClr val="E95D0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-être capable de verrouiller la vente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1142976" y="2786058"/>
            <a:ext cx="7215238" cy="1143000"/>
          </a:xfrm>
        </p:spPr>
        <p:txBody>
          <a:bodyPr>
            <a:normAutofit fontScale="90000"/>
          </a:bodyPr>
          <a:lstStyle/>
          <a:p>
            <a:r>
              <a:rPr lang="fr-FR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A- Qu’est-ce qu’un vendeur?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3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916211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A- Le vendeur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57200" y="1857364"/>
            <a:ext cx="8229600" cy="4268799"/>
          </a:xfrm>
        </p:spPr>
        <p:txBody>
          <a:bodyPr>
            <a:normAutofit/>
          </a:bodyPr>
          <a:lstStyle/>
          <a:p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Vos définitions?</a:t>
            </a: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 lvl="1">
              <a:buClr>
                <a:srgbClr val="E2007A"/>
              </a:buClr>
              <a:buFont typeface="Wingdings" pitchFamily="2" charset="2"/>
              <a:buChar char="Ø"/>
            </a:pPr>
            <a:r>
              <a:rPr lang="fr-FR" dirty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Exercice</a:t>
            </a:r>
          </a:p>
          <a:p>
            <a:pPr>
              <a:buClr>
                <a:srgbClr val="D4D600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4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  <p:pic>
        <p:nvPicPr>
          <p:cNvPr id="2" name="Image 1">
            <a:extLst>
              <a:ext uri="{FF2B5EF4-FFF2-40B4-BE49-F238E27FC236}">
                <a16:creationId xmlns:a16="http://schemas.microsoft.com/office/drawing/2014/main" id="{9821BE3E-54A2-4745-BABA-9B2CC1CFC8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5936" y="2852936"/>
            <a:ext cx="4248472" cy="264781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A- Le vendeur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57200" y="1857364"/>
            <a:ext cx="8229600" cy="4268799"/>
          </a:xfrm>
        </p:spPr>
        <p:txBody>
          <a:bodyPr>
            <a:normAutofit/>
          </a:bodyPr>
          <a:lstStyle/>
          <a:p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Le vendeur d’aujourd’hui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Une personne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Un goût pour l’autre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Un sens de l’écoute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Une capacité pour la communication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Une organisation</a:t>
            </a:r>
          </a:p>
          <a:p>
            <a:pPr lvl="1"/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1"/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1"/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5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A- Le vendeur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57200" y="1857364"/>
            <a:ext cx="8229600" cy="4268799"/>
          </a:xfrm>
        </p:spPr>
        <p:txBody>
          <a:bodyPr>
            <a:normAutofit/>
          </a:bodyPr>
          <a:lstStyle/>
          <a:p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Le vendeur d’aujourd’hui</a:t>
            </a:r>
          </a:p>
          <a:p>
            <a:pPr marL="457200" lvl="1" indent="0">
              <a:buNone/>
            </a:pPr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-Agir en « vendeur augmenté » en reprenant le fil des recherches déjà menées par le client</a:t>
            </a:r>
          </a:p>
          <a:p>
            <a:pPr marL="457200" lvl="1" indent="0">
              <a:buNone/>
            </a:pPr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-Dépasser le cadre de la pure transaction pour cocréer avec le client une relation plus humaine et épanouissante.</a:t>
            </a:r>
          </a:p>
          <a:p>
            <a:pPr marL="457200" lvl="1" indent="0">
              <a:buNone/>
            </a:pPr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-Se sentir impliqué et porteur des valeurs de son enseigne</a:t>
            </a:r>
          </a:p>
          <a:p>
            <a:pPr marL="457200" lvl="1" indent="0">
              <a:buNone/>
            </a:pPr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1"/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1"/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6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F6E42D54-8718-4ABE-9987-97E3FBB02300}"/>
              </a:ext>
            </a:extLst>
          </p:cNvPr>
          <p:cNvSpPr txBox="1"/>
          <p:nvPr/>
        </p:nvSpPr>
        <p:spPr>
          <a:xfrm>
            <a:off x="611560" y="5949280"/>
            <a:ext cx="23042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Article LSA 2019</a:t>
            </a:r>
          </a:p>
        </p:txBody>
      </p:sp>
    </p:spTree>
    <p:extLst>
      <p:ext uri="{BB962C8B-B14F-4D97-AF65-F5344CB8AC3E}">
        <p14:creationId xmlns:p14="http://schemas.microsoft.com/office/powerpoint/2010/main" val="33118558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143108" y="214290"/>
            <a:ext cx="6786610" cy="1143000"/>
          </a:xfrm>
        </p:spPr>
        <p:txBody>
          <a:bodyPr>
            <a:normAutofit/>
          </a:bodyPr>
          <a:lstStyle/>
          <a:p>
            <a:pPr algn="l"/>
            <a:r>
              <a:rPr lang="fr-FR" sz="3000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            C- La vente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57200" y="1600200"/>
            <a:ext cx="8543956" cy="4525963"/>
          </a:xfrm>
        </p:spPr>
        <p:txBody>
          <a:bodyPr/>
          <a:lstStyle/>
          <a:p>
            <a:pPr>
              <a:buNone/>
            </a:pPr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                                </a:t>
            </a:r>
            <a:endParaRPr lang="fr-FR" b="1" dirty="0">
              <a:solidFill>
                <a:srgbClr val="D4D600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 lvl="2">
              <a:buClr>
                <a:srgbClr val="D4D600"/>
              </a:buClr>
              <a:buNone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7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  <p:sp>
        <p:nvSpPr>
          <p:cNvPr id="11" name="Rectangle à coins arrondis 10"/>
          <p:cNvSpPr/>
          <p:nvPr/>
        </p:nvSpPr>
        <p:spPr>
          <a:xfrm>
            <a:off x="1000100" y="2928934"/>
            <a:ext cx="1785950" cy="1500198"/>
          </a:xfrm>
          <a:prstGeom prst="roundRect">
            <a:avLst/>
          </a:prstGeom>
          <a:noFill/>
          <a:ln>
            <a:solidFill>
              <a:srgbClr val="9311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</a:rPr>
              <a:t>ECHANGE</a:t>
            </a:r>
          </a:p>
          <a:p>
            <a:pPr algn="ctr"/>
            <a:r>
              <a:rPr lang="fr-FR" dirty="0">
                <a:solidFill>
                  <a:schemeClr val="tx1"/>
                </a:solidFill>
              </a:rPr>
              <a:t>Ayant pour but</a:t>
            </a:r>
          </a:p>
        </p:txBody>
      </p:sp>
      <p:sp>
        <p:nvSpPr>
          <p:cNvPr id="22" name="Triangle isocèle 21"/>
          <p:cNvSpPr/>
          <p:nvPr/>
        </p:nvSpPr>
        <p:spPr>
          <a:xfrm rot="5400000">
            <a:off x="5681325" y="3221833"/>
            <a:ext cx="1357322" cy="914400"/>
          </a:xfrm>
          <a:prstGeom prst="triangle">
            <a:avLst/>
          </a:prstGeom>
          <a:solidFill>
            <a:srgbClr val="D4D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ZoneTexte 22"/>
          <p:cNvSpPr txBox="1"/>
          <p:nvPr/>
        </p:nvSpPr>
        <p:spPr>
          <a:xfrm>
            <a:off x="500034" y="1714488"/>
            <a:ext cx="60007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rgbClr val="E95D0F"/>
                </a:solidFill>
              </a:rPr>
              <a:t>La communication: qu’est-ce que c’est?</a:t>
            </a:r>
          </a:p>
        </p:txBody>
      </p:sp>
      <p:sp>
        <p:nvSpPr>
          <p:cNvPr id="25" name="Rectangle à coins arrondis 24"/>
          <p:cNvSpPr/>
          <p:nvPr/>
        </p:nvSpPr>
        <p:spPr>
          <a:xfrm>
            <a:off x="6919926" y="2928934"/>
            <a:ext cx="1785950" cy="1500198"/>
          </a:xfrm>
          <a:prstGeom prst="roundRect">
            <a:avLst/>
          </a:prstGeom>
          <a:noFill/>
          <a:ln>
            <a:solidFill>
              <a:srgbClr val="9311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Qui fait </a:t>
            </a:r>
            <a:r>
              <a:rPr lang="fr-FR" b="1" dirty="0">
                <a:solidFill>
                  <a:schemeClr val="tx1"/>
                </a:solidFill>
              </a:rPr>
              <a:t>AGIR</a:t>
            </a:r>
          </a:p>
        </p:txBody>
      </p:sp>
      <p:sp>
        <p:nvSpPr>
          <p:cNvPr id="26" name="Rectangle à coins arrondis 25"/>
          <p:cNvSpPr/>
          <p:nvPr/>
        </p:nvSpPr>
        <p:spPr>
          <a:xfrm>
            <a:off x="3973960" y="2928934"/>
            <a:ext cx="1785950" cy="1500198"/>
          </a:xfrm>
          <a:prstGeom prst="roundRect">
            <a:avLst/>
          </a:prstGeom>
          <a:noFill/>
          <a:ln>
            <a:solidFill>
              <a:srgbClr val="9311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La </a:t>
            </a:r>
            <a:r>
              <a:rPr lang="fr-FR" sz="1400" b="1" dirty="0">
                <a:solidFill>
                  <a:schemeClr val="tx1"/>
                </a:solidFill>
              </a:rPr>
              <a:t>COMPREHENSION MUTUELLE</a:t>
            </a:r>
          </a:p>
        </p:txBody>
      </p:sp>
      <p:sp>
        <p:nvSpPr>
          <p:cNvPr id="27" name="Triangle isocèle 26"/>
          <p:cNvSpPr/>
          <p:nvPr/>
        </p:nvSpPr>
        <p:spPr>
          <a:xfrm rot="5400000">
            <a:off x="2713587" y="3221833"/>
            <a:ext cx="1357322" cy="914400"/>
          </a:xfrm>
          <a:prstGeom prst="triangle">
            <a:avLst/>
          </a:prstGeom>
          <a:solidFill>
            <a:srgbClr val="D4D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D4D6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143108" y="214290"/>
            <a:ext cx="6786610" cy="1143000"/>
          </a:xfrm>
        </p:spPr>
        <p:txBody>
          <a:bodyPr>
            <a:normAutofit/>
          </a:bodyPr>
          <a:lstStyle/>
          <a:p>
            <a:pPr algn="l"/>
            <a:r>
              <a:rPr lang="fr-FR" sz="3000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            C- La vente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57200" y="1600200"/>
            <a:ext cx="8543956" cy="4525963"/>
          </a:xfrm>
        </p:spPr>
        <p:txBody>
          <a:bodyPr/>
          <a:lstStyle/>
          <a:p>
            <a:pPr>
              <a:buNone/>
            </a:pPr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                                </a:t>
            </a:r>
            <a:endParaRPr lang="fr-FR" b="1" dirty="0">
              <a:solidFill>
                <a:srgbClr val="D4D600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 lvl="2">
              <a:buClr>
                <a:srgbClr val="D4D600"/>
              </a:buClr>
              <a:buNone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8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  <p:sp>
        <p:nvSpPr>
          <p:cNvPr id="11" name="Rectangle à coins arrondis 10"/>
          <p:cNvSpPr/>
          <p:nvPr/>
        </p:nvSpPr>
        <p:spPr>
          <a:xfrm>
            <a:off x="1000100" y="2500306"/>
            <a:ext cx="1785950" cy="1500198"/>
          </a:xfrm>
          <a:prstGeom prst="roundRect">
            <a:avLst/>
          </a:prstGeom>
          <a:noFill/>
          <a:ln>
            <a:solidFill>
              <a:srgbClr val="9311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</a:rPr>
              <a:t>FAITS</a:t>
            </a:r>
          </a:p>
          <a:p>
            <a:pPr algn="ctr"/>
            <a:r>
              <a:rPr lang="fr-FR" sz="1400" dirty="0">
                <a:solidFill>
                  <a:schemeClr val="tx1"/>
                </a:solidFill>
              </a:rPr>
              <a:t>Ce que je constate (vérifiable, </a:t>
            </a:r>
            <a:r>
              <a:rPr lang="fr-FR" sz="1400" dirty="0" err="1">
                <a:solidFill>
                  <a:schemeClr val="tx1"/>
                </a:solidFill>
              </a:rPr>
              <a:t>meurable</a:t>
            </a:r>
            <a:r>
              <a:rPr lang="fr-FR" sz="14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22" name="Triangle isocèle 21"/>
          <p:cNvSpPr/>
          <p:nvPr/>
        </p:nvSpPr>
        <p:spPr>
          <a:xfrm rot="10800000">
            <a:off x="4286248" y="4259720"/>
            <a:ext cx="785818" cy="500066"/>
          </a:xfrm>
          <a:prstGeom prst="triangle">
            <a:avLst/>
          </a:prstGeom>
          <a:solidFill>
            <a:srgbClr val="D4D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ZoneTexte 22"/>
          <p:cNvSpPr txBox="1"/>
          <p:nvPr/>
        </p:nvSpPr>
        <p:spPr>
          <a:xfrm>
            <a:off x="500034" y="1714488"/>
            <a:ext cx="60007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rgbClr val="E95D0F"/>
                </a:solidFill>
              </a:rPr>
              <a:t>La communication: qu’est-ce que c’est?</a:t>
            </a:r>
          </a:p>
        </p:txBody>
      </p:sp>
      <p:sp>
        <p:nvSpPr>
          <p:cNvPr id="25" name="Rectangle à coins arrondis 24"/>
          <p:cNvSpPr/>
          <p:nvPr/>
        </p:nvSpPr>
        <p:spPr>
          <a:xfrm>
            <a:off x="6715140" y="2500306"/>
            <a:ext cx="1785950" cy="1500198"/>
          </a:xfrm>
          <a:prstGeom prst="roundRect">
            <a:avLst/>
          </a:prstGeom>
          <a:noFill/>
          <a:ln>
            <a:solidFill>
              <a:srgbClr val="9311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</a:rPr>
              <a:t>RESSENTIR</a:t>
            </a:r>
          </a:p>
          <a:p>
            <a:pPr algn="ctr"/>
            <a:r>
              <a:rPr lang="fr-FR" sz="1400" dirty="0">
                <a:solidFill>
                  <a:schemeClr val="tx1"/>
                </a:solidFill>
              </a:rPr>
              <a:t>Ce que je ressens (mes émotions, peur, colère, déception, enthousiasme...)</a:t>
            </a:r>
          </a:p>
        </p:txBody>
      </p:sp>
      <p:sp>
        <p:nvSpPr>
          <p:cNvPr id="26" name="Rectangle à coins arrondis 25"/>
          <p:cNvSpPr/>
          <p:nvPr/>
        </p:nvSpPr>
        <p:spPr>
          <a:xfrm>
            <a:off x="3786182" y="2500306"/>
            <a:ext cx="1785950" cy="1500198"/>
          </a:xfrm>
          <a:prstGeom prst="roundRect">
            <a:avLst/>
          </a:prstGeom>
          <a:noFill/>
          <a:ln>
            <a:solidFill>
              <a:srgbClr val="9311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</a:rPr>
              <a:t>OPINIONS</a:t>
            </a:r>
          </a:p>
          <a:p>
            <a:pPr algn="ctr"/>
            <a:r>
              <a:rPr lang="fr-FR" sz="1400" dirty="0">
                <a:solidFill>
                  <a:schemeClr val="tx1"/>
                </a:solidFill>
              </a:rPr>
              <a:t>Ce que je pense (ma vision des choses)</a:t>
            </a:r>
          </a:p>
          <a:p>
            <a:pPr algn="ctr"/>
            <a:endParaRPr lang="fr-FR" sz="1400" b="1" dirty="0">
              <a:solidFill>
                <a:schemeClr val="tx1"/>
              </a:solidFill>
            </a:endParaRPr>
          </a:p>
        </p:txBody>
      </p:sp>
      <p:sp>
        <p:nvSpPr>
          <p:cNvPr id="27" name="Triangle isocèle 26"/>
          <p:cNvSpPr/>
          <p:nvPr/>
        </p:nvSpPr>
        <p:spPr>
          <a:xfrm rot="10800000">
            <a:off x="1500166" y="4231826"/>
            <a:ext cx="785818" cy="500066"/>
          </a:xfrm>
          <a:prstGeom prst="triangle">
            <a:avLst/>
          </a:prstGeom>
          <a:solidFill>
            <a:srgbClr val="D4D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D4D600"/>
              </a:solidFill>
            </a:endParaRPr>
          </a:p>
        </p:txBody>
      </p:sp>
      <p:sp>
        <p:nvSpPr>
          <p:cNvPr id="13" name="Triangle isocèle 12"/>
          <p:cNvSpPr/>
          <p:nvPr/>
        </p:nvSpPr>
        <p:spPr>
          <a:xfrm rot="10800000">
            <a:off x="7215206" y="4270606"/>
            <a:ext cx="785818" cy="500066"/>
          </a:xfrm>
          <a:prstGeom prst="triangle">
            <a:avLst/>
          </a:prstGeom>
          <a:solidFill>
            <a:srgbClr val="D4D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ZoneTexte 13"/>
          <p:cNvSpPr txBox="1"/>
          <p:nvPr/>
        </p:nvSpPr>
        <p:spPr>
          <a:xfrm>
            <a:off x="1142976" y="4929198"/>
            <a:ext cx="1571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Incontestable</a:t>
            </a:r>
          </a:p>
        </p:txBody>
      </p:sp>
      <p:sp>
        <p:nvSpPr>
          <p:cNvPr id="15" name="ZoneTexte 14"/>
          <p:cNvSpPr txBox="1"/>
          <p:nvPr/>
        </p:nvSpPr>
        <p:spPr>
          <a:xfrm>
            <a:off x="3857620" y="4950970"/>
            <a:ext cx="1562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Contestable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6929454" y="4929198"/>
            <a:ext cx="1571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Indiscutable</a:t>
            </a:r>
          </a:p>
        </p:txBody>
      </p:sp>
      <p:sp>
        <p:nvSpPr>
          <p:cNvPr id="17" name="ZoneTexte 16"/>
          <p:cNvSpPr txBox="1"/>
          <p:nvPr/>
        </p:nvSpPr>
        <p:spPr>
          <a:xfrm>
            <a:off x="1428728" y="5643578"/>
            <a:ext cx="6429420" cy="369332"/>
          </a:xfrm>
          <a:prstGeom prst="rect">
            <a:avLst/>
          </a:prstGeom>
          <a:noFill/>
          <a:ln w="19050">
            <a:solidFill>
              <a:srgbClr val="E95D0F"/>
            </a:solidFill>
          </a:ln>
        </p:spPr>
        <p:txBody>
          <a:bodyPr wrap="square" rtlCol="0">
            <a:spAutoFit/>
          </a:bodyPr>
          <a:lstStyle/>
          <a:p>
            <a:r>
              <a:rPr lang="fr-FR" b="1" dirty="0"/>
              <a:t>En vente, la vision partagée et objective ne porte que sur des faits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A- Le vendeur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57200" y="1857364"/>
            <a:ext cx="8229600" cy="4268799"/>
          </a:xfrm>
        </p:spPr>
        <p:txBody>
          <a:bodyPr>
            <a:normAutofit/>
          </a:bodyPr>
          <a:lstStyle/>
          <a:p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Le vendeur efficace: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L’écoute active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L’observation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La réactivité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Le souci d’amener des solutions</a:t>
            </a:r>
          </a:p>
          <a:p>
            <a:pPr lvl="1"/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2">
              <a:buFont typeface="Wingdings" pitchFamily="2" charset="2"/>
              <a:buChar char="Ø"/>
            </a:pPr>
            <a:r>
              <a:rPr lang="fr-FR" dirty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sz="2800" b="1" dirty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UN FACILITATEUR</a:t>
            </a:r>
          </a:p>
          <a:p>
            <a:pPr lvl="1">
              <a:buNone/>
            </a:pPr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2"/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1"/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1"/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1"/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9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785786" y="2643182"/>
            <a:ext cx="7358114" cy="1143000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B- Qu’est-ce qu’un prospect?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10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B- Le prospect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28596" y="1928802"/>
            <a:ext cx="8229600" cy="4214842"/>
          </a:xfrm>
        </p:spPr>
        <p:txBody>
          <a:bodyPr>
            <a:normAutofit/>
          </a:bodyPr>
          <a:lstStyle/>
          <a:p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De nombreuses facettes: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Une personne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Des exigences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Des motivations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Des freins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Des besoins</a:t>
            </a:r>
          </a:p>
          <a:p>
            <a:pPr lvl="1"/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2">
              <a:buFont typeface="Wingdings" pitchFamily="2" charset="2"/>
              <a:buChar char="Ø"/>
            </a:pPr>
            <a:r>
              <a:rPr lang="fr-FR" sz="3000" dirty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Des typologies</a:t>
            </a:r>
          </a:p>
          <a:p>
            <a:pPr lvl="1">
              <a:buNone/>
            </a:pPr>
            <a:endParaRPr lang="fr-FR" sz="10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11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785786" y="2643182"/>
            <a:ext cx="7358114" cy="1143000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C- La vente: concrètement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12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C- La vente 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142844" y="1857364"/>
            <a:ext cx="8586790" cy="4357718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1- Les étapes de la vente</a:t>
            </a: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13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  <p:sp>
        <p:nvSpPr>
          <p:cNvPr id="8" name="Rectangle à coins arrondis 7"/>
          <p:cNvSpPr/>
          <p:nvPr/>
        </p:nvSpPr>
        <p:spPr>
          <a:xfrm>
            <a:off x="357158" y="2928934"/>
            <a:ext cx="3247368" cy="2445900"/>
          </a:xfrm>
          <a:prstGeom prst="roundRect">
            <a:avLst/>
          </a:prstGeom>
          <a:noFill/>
          <a:ln>
            <a:solidFill>
              <a:srgbClr val="9311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Préparation de l’année de vente</a:t>
            </a:r>
          </a:p>
        </p:txBody>
      </p:sp>
      <p:sp>
        <p:nvSpPr>
          <p:cNvPr id="9" name="Triangle isocèle 8"/>
          <p:cNvSpPr/>
          <p:nvPr/>
        </p:nvSpPr>
        <p:spPr>
          <a:xfrm rot="5400000">
            <a:off x="4139632" y="3844360"/>
            <a:ext cx="1143008" cy="598040"/>
          </a:xfrm>
          <a:prstGeom prst="triangle">
            <a:avLst/>
          </a:prstGeom>
          <a:solidFill>
            <a:srgbClr val="D4D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à coins arrondis 10"/>
          <p:cNvSpPr/>
          <p:nvPr/>
        </p:nvSpPr>
        <p:spPr>
          <a:xfrm>
            <a:off x="5143504" y="2956828"/>
            <a:ext cx="2857520" cy="2357454"/>
          </a:xfrm>
          <a:prstGeom prst="roundRect">
            <a:avLst/>
          </a:prstGeom>
          <a:noFill/>
          <a:ln>
            <a:solidFill>
              <a:srgbClr val="9311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Vente:</a:t>
            </a:r>
          </a:p>
          <a:p>
            <a:pPr algn="ctr"/>
            <a:r>
              <a:rPr lang="fr-FR" sz="20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-conquête</a:t>
            </a:r>
          </a:p>
          <a:p>
            <a:pPr algn="ctr"/>
            <a:r>
              <a:rPr lang="fr-FR" sz="20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-fidélisation</a:t>
            </a:r>
          </a:p>
        </p:txBody>
      </p:sp>
      <p:sp>
        <p:nvSpPr>
          <p:cNvPr id="12" name="Triangle isocèle 11"/>
          <p:cNvSpPr/>
          <p:nvPr/>
        </p:nvSpPr>
        <p:spPr>
          <a:xfrm rot="5400000">
            <a:off x="3466414" y="3824970"/>
            <a:ext cx="1143008" cy="636820"/>
          </a:xfrm>
          <a:prstGeom prst="triangle">
            <a:avLst/>
          </a:prstGeom>
          <a:solidFill>
            <a:srgbClr val="D4D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D4D6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85793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C- La vente 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500034" y="1857364"/>
            <a:ext cx="8229600" cy="3929090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1- Préparation de l’année de vente </a:t>
            </a:r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1"/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2">
              <a:buFont typeface="Wingdings" pitchFamily="2" charset="2"/>
              <a:buChar char="Ø"/>
            </a:pPr>
            <a:r>
              <a:rPr lang="fr-FR" sz="2800" b="1" dirty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sz="3200" b="1" dirty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Exercice</a:t>
            </a: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14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C- La vente 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142844" y="1857364"/>
            <a:ext cx="8586790" cy="4357718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1- Les étapes de la vente</a:t>
            </a: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15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  <p:sp>
        <p:nvSpPr>
          <p:cNvPr id="8" name="Rectangle à coins arrondis 7"/>
          <p:cNvSpPr/>
          <p:nvPr/>
        </p:nvSpPr>
        <p:spPr>
          <a:xfrm>
            <a:off x="357158" y="2928934"/>
            <a:ext cx="3247368" cy="2445900"/>
          </a:xfrm>
          <a:prstGeom prst="roundRect">
            <a:avLst/>
          </a:prstGeom>
          <a:noFill/>
          <a:ln>
            <a:solidFill>
              <a:srgbClr val="9311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Préparation de la vente</a:t>
            </a:r>
          </a:p>
        </p:txBody>
      </p:sp>
      <p:sp>
        <p:nvSpPr>
          <p:cNvPr id="9" name="Triangle isocèle 8"/>
          <p:cNvSpPr/>
          <p:nvPr/>
        </p:nvSpPr>
        <p:spPr>
          <a:xfrm rot="5400000">
            <a:off x="4139632" y="3844360"/>
            <a:ext cx="1143008" cy="598040"/>
          </a:xfrm>
          <a:prstGeom prst="triangle">
            <a:avLst/>
          </a:prstGeom>
          <a:solidFill>
            <a:srgbClr val="D4D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à coins arrondis 10"/>
          <p:cNvSpPr/>
          <p:nvPr/>
        </p:nvSpPr>
        <p:spPr>
          <a:xfrm>
            <a:off x="5143504" y="2956828"/>
            <a:ext cx="2857520" cy="2357454"/>
          </a:xfrm>
          <a:prstGeom prst="roundRect">
            <a:avLst/>
          </a:prstGeom>
          <a:noFill/>
          <a:ln>
            <a:solidFill>
              <a:srgbClr val="9311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Vente physique ou téléphonique</a:t>
            </a:r>
          </a:p>
        </p:txBody>
      </p:sp>
      <p:sp>
        <p:nvSpPr>
          <p:cNvPr id="12" name="Triangle isocèle 11"/>
          <p:cNvSpPr/>
          <p:nvPr/>
        </p:nvSpPr>
        <p:spPr>
          <a:xfrm rot="5400000">
            <a:off x="3466414" y="3824970"/>
            <a:ext cx="1143008" cy="636820"/>
          </a:xfrm>
          <a:prstGeom prst="triangle">
            <a:avLst/>
          </a:prstGeom>
          <a:solidFill>
            <a:srgbClr val="D4D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D4D60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C- La vente 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142844" y="1857364"/>
            <a:ext cx="8586790" cy="4357718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1- Les étapes </a:t>
            </a:r>
            <a:r>
              <a:rPr lang="fr-FR" b="1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de la </a:t>
            </a:r>
            <a:r>
              <a:rPr lang="fr-FR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vente</a:t>
            </a: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16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  <p:sp>
        <p:nvSpPr>
          <p:cNvPr id="8" name="Rectangle à coins arrondis 7"/>
          <p:cNvSpPr/>
          <p:nvPr/>
        </p:nvSpPr>
        <p:spPr>
          <a:xfrm>
            <a:off x="110186" y="2983364"/>
            <a:ext cx="1214446" cy="1285884"/>
          </a:xfrm>
          <a:prstGeom prst="roundRect">
            <a:avLst/>
          </a:prstGeom>
          <a:noFill/>
          <a:ln>
            <a:solidFill>
              <a:srgbClr val="9311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Prise de contact</a:t>
            </a:r>
          </a:p>
        </p:txBody>
      </p:sp>
      <p:sp>
        <p:nvSpPr>
          <p:cNvPr id="9" name="Triangle isocèle 8"/>
          <p:cNvSpPr/>
          <p:nvPr/>
        </p:nvSpPr>
        <p:spPr>
          <a:xfrm rot="5400000">
            <a:off x="3027234" y="3415732"/>
            <a:ext cx="1143008" cy="598040"/>
          </a:xfrm>
          <a:prstGeom prst="triangle">
            <a:avLst/>
          </a:prstGeom>
          <a:solidFill>
            <a:srgbClr val="D4D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à coins arrondis 9"/>
          <p:cNvSpPr/>
          <p:nvPr/>
        </p:nvSpPr>
        <p:spPr>
          <a:xfrm>
            <a:off x="3953546" y="3071810"/>
            <a:ext cx="1223974" cy="1214446"/>
          </a:xfrm>
          <a:prstGeom prst="roundRect">
            <a:avLst/>
          </a:prstGeom>
          <a:noFill/>
          <a:ln>
            <a:solidFill>
              <a:srgbClr val="9311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Argumen</a:t>
            </a:r>
          </a:p>
          <a:p>
            <a:pPr algn="ctr"/>
            <a:r>
              <a:rPr lang="fr-FR" sz="14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tation</a:t>
            </a:r>
          </a:p>
        </p:txBody>
      </p:sp>
      <p:sp>
        <p:nvSpPr>
          <p:cNvPr id="11" name="Rectangle à coins arrondis 10"/>
          <p:cNvSpPr/>
          <p:nvPr/>
        </p:nvSpPr>
        <p:spPr>
          <a:xfrm>
            <a:off x="2063500" y="3000372"/>
            <a:ext cx="1169544" cy="1285884"/>
          </a:xfrm>
          <a:prstGeom prst="roundRect">
            <a:avLst/>
          </a:prstGeom>
          <a:noFill/>
          <a:ln>
            <a:solidFill>
              <a:srgbClr val="9311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Recensement des besoins</a:t>
            </a:r>
          </a:p>
        </p:txBody>
      </p:sp>
      <p:sp>
        <p:nvSpPr>
          <p:cNvPr id="12" name="Triangle isocèle 11"/>
          <p:cNvSpPr/>
          <p:nvPr/>
        </p:nvSpPr>
        <p:spPr>
          <a:xfrm rot="5400000">
            <a:off x="1139570" y="3396342"/>
            <a:ext cx="1143008" cy="636820"/>
          </a:xfrm>
          <a:prstGeom prst="triangle">
            <a:avLst/>
          </a:prstGeom>
          <a:solidFill>
            <a:srgbClr val="D4D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D4D600"/>
              </a:solidFill>
            </a:endParaRPr>
          </a:p>
        </p:txBody>
      </p:sp>
      <p:sp>
        <p:nvSpPr>
          <p:cNvPr id="13" name="Rectangle à coins arrondis 12"/>
          <p:cNvSpPr/>
          <p:nvPr/>
        </p:nvSpPr>
        <p:spPr>
          <a:xfrm>
            <a:off x="5936802" y="3071810"/>
            <a:ext cx="1214446" cy="1214446"/>
          </a:xfrm>
          <a:prstGeom prst="roundRect">
            <a:avLst/>
          </a:prstGeom>
          <a:noFill/>
          <a:ln>
            <a:solidFill>
              <a:srgbClr val="9311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Traitement des objections</a:t>
            </a:r>
          </a:p>
        </p:txBody>
      </p:sp>
      <p:sp>
        <p:nvSpPr>
          <p:cNvPr id="14" name="Rectangle à coins arrondis 13"/>
          <p:cNvSpPr/>
          <p:nvPr/>
        </p:nvSpPr>
        <p:spPr>
          <a:xfrm>
            <a:off x="7913904" y="3071810"/>
            <a:ext cx="1143008" cy="1214446"/>
          </a:xfrm>
          <a:prstGeom prst="roundRect">
            <a:avLst/>
          </a:prstGeom>
          <a:noFill/>
          <a:ln>
            <a:solidFill>
              <a:srgbClr val="9311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Prise de congés</a:t>
            </a:r>
          </a:p>
        </p:txBody>
      </p:sp>
      <p:sp>
        <p:nvSpPr>
          <p:cNvPr id="15" name="Triangle isocèle 14"/>
          <p:cNvSpPr/>
          <p:nvPr/>
        </p:nvSpPr>
        <p:spPr>
          <a:xfrm rot="5400000">
            <a:off x="4997222" y="3396342"/>
            <a:ext cx="1143008" cy="636820"/>
          </a:xfrm>
          <a:prstGeom prst="triangle">
            <a:avLst/>
          </a:prstGeom>
          <a:solidFill>
            <a:srgbClr val="D4D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D4D600"/>
              </a:solidFill>
            </a:endParaRPr>
          </a:p>
        </p:txBody>
      </p:sp>
      <p:sp>
        <p:nvSpPr>
          <p:cNvPr id="16" name="Triangle isocèle 15"/>
          <p:cNvSpPr/>
          <p:nvPr/>
        </p:nvSpPr>
        <p:spPr>
          <a:xfrm rot="5400000">
            <a:off x="6980478" y="3413350"/>
            <a:ext cx="1143008" cy="636820"/>
          </a:xfrm>
          <a:prstGeom prst="triangle">
            <a:avLst/>
          </a:prstGeom>
          <a:solidFill>
            <a:srgbClr val="D4D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D4D600"/>
              </a:solidFill>
            </a:endParaRPr>
          </a:p>
        </p:txBody>
      </p:sp>
      <p:sp>
        <p:nvSpPr>
          <p:cNvPr id="17" name="Rectangle à coins arrondis 16"/>
          <p:cNvSpPr/>
          <p:nvPr/>
        </p:nvSpPr>
        <p:spPr>
          <a:xfrm>
            <a:off x="3143240" y="4616910"/>
            <a:ext cx="1500198" cy="785818"/>
          </a:xfrm>
          <a:prstGeom prst="roundRect">
            <a:avLst/>
          </a:prstGeom>
          <a:noFill/>
          <a:ln>
            <a:solidFill>
              <a:srgbClr val="E95D0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Reformulation</a:t>
            </a:r>
          </a:p>
        </p:txBody>
      </p:sp>
      <p:sp>
        <p:nvSpPr>
          <p:cNvPr id="19" name="Rectangle à coins arrondis 18"/>
          <p:cNvSpPr/>
          <p:nvPr/>
        </p:nvSpPr>
        <p:spPr>
          <a:xfrm>
            <a:off x="6786578" y="4578130"/>
            <a:ext cx="1500198" cy="785818"/>
          </a:xfrm>
          <a:prstGeom prst="roundRect">
            <a:avLst/>
          </a:prstGeom>
          <a:noFill/>
          <a:ln>
            <a:solidFill>
              <a:srgbClr val="E95D0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Reformulation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C- La vente 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500034" y="1857364"/>
            <a:ext cx="8229600" cy="3929090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2- Et si vous observiez?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Observation physique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Observation du non-verbal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Observation de l’attitude</a:t>
            </a:r>
          </a:p>
          <a:p>
            <a:pPr lvl="1"/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2">
              <a:buFont typeface="Wingdings" pitchFamily="2" charset="2"/>
              <a:buChar char="Ø"/>
            </a:pPr>
            <a:r>
              <a:rPr lang="fr-FR" sz="2800" b="1" dirty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Pas de jugement</a:t>
            </a: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17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446665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C- La vente 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500034" y="1857364"/>
            <a:ext cx="8229600" cy="3929090"/>
          </a:xfrm>
        </p:spPr>
        <p:txBody>
          <a:bodyPr>
            <a:normAutofit/>
          </a:bodyPr>
          <a:lstStyle/>
          <a:p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2- Et si vous observiez?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La bonne distance: intime, personnelle, sociale, publique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La gestuelle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La synchronisation</a:t>
            </a:r>
          </a:p>
          <a:p>
            <a:pPr lvl="1"/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2">
              <a:buFont typeface="Wingdings" pitchFamily="2" charset="2"/>
              <a:buChar char="Ø"/>
            </a:pPr>
            <a:r>
              <a:rPr lang="fr-FR" sz="2800" b="1" dirty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S’adapter</a:t>
            </a: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18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339752" y="172381"/>
            <a:ext cx="5855848" cy="1143000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C- La vente 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500034" y="1857364"/>
            <a:ext cx="8229600" cy="3929090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3- Et si vous écoutiez?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Les termes employés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Le ton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Les termes employés</a:t>
            </a:r>
          </a:p>
          <a:p>
            <a:pPr lvl="1"/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2">
              <a:buFont typeface="Wingdings" pitchFamily="2" charset="2"/>
              <a:buChar char="Ø"/>
            </a:pPr>
            <a:r>
              <a:rPr lang="fr-FR" sz="2800" b="1" dirty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Enregistrez</a:t>
            </a: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19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  <p:sp>
        <p:nvSpPr>
          <p:cNvPr id="2" name="Rectangle à coins arrondis 1"/>
          <p:cNvSpPr/>
          <p:nvPr/>
        </p:nvSpPr>
        <p:spPr>
          <a:xfrm>
            <a:off x="5004048" y="3648108"/>
            <a:ext cx="3666244" cy="2423294"/>
          </a:xfrm>
          <a:prstGeom prst="roundRect">
            <a:avLst/>
          </a:prstGeom>
          <a:solidFill>
            <a:srgbClr val="E2007A"/>
          </a:solidFill>
          <a:ln>
            <a:solidFill>
              <a:srgbClr val="E200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« Parler est un besoin.</a:t>
            </a:r>
          </a:p>
          <a:p>
            <a:r>
              <a:rPr lang="fr-FR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Ecouter est un art. »</a:t>
            </a:r>
          </a:p>
          <a:p>
            <a:pPr algn="ctr"/>
            <a:endParaRPr lang="fr-FR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fr-FR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Goethe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C- La vente 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500034" y="2000240"/>
            <a:ext cx="8229600" cy="3929090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4- Et si vous interrogiez?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Recenser le besoin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L’écoute active</a:t>
            </a:r>
          </a:p>
          <a:p>
            <a:pPr lvl="1"/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2">
              <a:buFont typeface="Wingdings" pitchFamily="2" charset="2"/>
              <a:buChar char="Ø"/>
            </a:pPr>
            <a:r>
              <a:rPr lang="fr-FR" sz="2800" b="1" dirty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L’étape primordiale</a:t>
            </a: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20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C- La vente 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500034" y="2000240"/>
            <a:ext cx="8229600" cy="3929090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4- Et si vous interrogiez?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Recenser le besoin</a:t>
            </a:r>
          </a:p>
          <a:p>
            <a:pPr lvl="1"/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2">
              <a:buFont typeface="Wingdings" pitchFamily="2" charset="2"/>
              <a:buChar char="Ø"/>
            </a:pPr>
            <a:r>
              <a:rPr lang="fr-FR" sz="2800" b="1" dirty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Exercice</a:t>
            </a: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21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C- La vente 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500034" y="2000240"/>
            <a:ext cx="8229600" cy="3929090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5- Et si vous parliez peu?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Parler peu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Parler bien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Ecouter</a:t>
            </a:r>
          </a:p>
          <a:p>
            <a:pPr lvl="1"/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2">
              <a:buFont typeface="Wingdings" pitchFamily="2" charset="2"/>
              <a:buChar char="Ø"/>
            </a:pPr>
            <a:r>
              <a:rPr lang="fr-FR" sz="2800" b="1" dirty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Argumenter</a:t>
            </a: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22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C- La vente 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500034" y="2000240"/>
            <a:ext cx="8229600" cy="3929090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6- Et si vous argumentiez en vous adaptant au client?</a:t>
            </a:r>
          </a:p>
          <a:p>
            <a:pPr marL="0" indent="0">
              <a:buNone/>
            </a:pPr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	Un client = un argument clé</a:t>
            </a:r>
          </a:p>
          <a:p>
            <a:pPr lvl="1"/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2">
              <a:buFont typeface="Wingdings" pitchFamily="2" charset="2"/>
              <a:buChar char="Ø"/>
            </a:pPr>
            <a:r>
              <a:rPr lang="fr-FR" sz="2800" b="1" dirty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SONCAS</a:t>
            </a: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23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143108" y="214290"/>
            <a:ext cx="6786610" cy="1143000"/>
          </a:xfrm>
        </p:spPr>
        <p:txBody>
          <a:bodyPr>
            <a:normAutofit/>
          </a:bodyPr>
          <a:lstStyle/>
          <a:p>
            <a:pPr algn="l"/>
            <a:r>
              <a:rPr lang="fr-FR" sz="3000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            C- La vente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57200" y="1600200"/>
            <a:ext cx="8543956" cy="4525963"/>
          </a:xfrm>
        </p:spPr>
        <p:txBody>
          <a:bodyPr/>
          <a:lstStyle/>
          <a:p>
            <a:pPr>
              <a:buNone/>
            </a:pPr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                                </a:t>
            </a:r>
            <a:r>
              <a:rPr lang="fr-FR" b="1" dirty="0">
                <a:solidFill>
                  <a:srgbClr val="D4D600"/>
                </a:solidFill>
                <a:latin typeface="Arial" pitchFamily="34" charset="0"/>
                <a:cs typeface="Arial" pitchFamily="34" charset="0"/>
              </a:rPr>
              <a:t>SONCAS</a:t>
            </a: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 lvl="2">
              <a:buClr>
                <a:srgbClr val="D4D600"/>
              </a:buClr>
              <a:buNone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24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  <p:sp>
        <p:nvSpPr>
          <p:cNvPr id="11" name="Rectangle à coins arrondis 10"/>
          <p:cNvSpPr/>
          <p:nvPr/>
        </p:nvSpPr>
        <p:spPr>
          <a:xfrm>
            <a:off x="1000100" y="2928934"/>
            <a:ext cx="1785950" cy="1500198"/>
          </a:xfrm>
          <a:prstGeom prst="roundRect">
            <a:avLst/>
          </a:prstGeom>
          <a:noFill/>
          <a:ln>
            <a:solidFill>
              <a:srgbClr val="9311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Ce que dit le prospect/client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43372" y="4572008"/>
            <a:ext cx="1643074" cy="428628"/>
          </a:xfrm>
          <a:prstGeom prst="rect">
            <a:avLst/>
          </a:prstGeom>
          <a:solidFill>
            <a:srgbClr val="E95D0F"/>
          </a:solidFill>
          <a:ln>
            <a:noFill/>
          </a:ln>
          <a:effectLst>
            <a:outerShdw blurRad="50800" dist="50800" dir="5400000" algn="ctr" rotWithShape="0">
              <a:schemeClr val="bg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Argent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143372" y="2285992"/>
            <a:ext cx="1643074" cy="428628"/>
          </a:xfrm>
          <a:prstGeom prst="rect">
            <a:avLst/>
          </a:prstGeom>
          <a:solidFill>
            <a:srgbClr val="E95D0F"/>
          </a:solidFill>
          <a:ln>
            <a:noFill/>
          </a:ln>
          <a:effectLst>
            <a:outerShdw blurRad="50800" dist="50800" dir="5400000" algn="ctr" rotWithShape="0">
              <a:schemeClr val="bg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Sécurité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143372" y="2857496"/>
            <a:ext cx="1643074" cy="428628"/>
          </a:xfrm>
          <a:prstGeom prst="rect">
            <a:avLst/>
          </a:prstGeom>
          <a:solidFill>
            <a:srgbClr val="E95D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Orgueil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143372" y="3429000"/>
            <a:ext cx="1643074" cy="428628"/>
          </a:xfrm>
          <a:prstGeom prst="rect">
            <a:avLst/>
          </a:prstGeom>
          <a:solidFill>
            <a:srgbClr val="E95D0F"/>
          </a:solidFill>
          <a:ln>
            <a:noFill/>
          </a:ln>
          <a:effectLst>
            <a:outerShdw blurRad="50800" dist="50800" dir="5400000" algn="ctr" rotWithShape="0">
              <a:schemeClr val="bg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Nouveauté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143372" y="4000504"/>
            <a:ext cx="1643074" cy="428628"/>
          </a:xfrm>
          <a:prstGeom prst="rect">
            <a:avLst/>
          </a:prstGeom>
          <a:solidFill>
            <a:srgbClr val="E95D0F"/>
          </a:solidFill>
          <a:ln>
            <a:noFill/>
          </a:ln>
          <a:effectLst>
            <a:outerShdw blurRad="50800" dist="50800" dir="5400000" algn="ctr" rotWithShape="0">
              <a:schemeClr val="bg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Confort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21" name="Triangle isocèle 20"/>
          <p:cNvSpPr/>
          <p:nvPr/>
        </p:nvSpPr>
        <p:spPr>
          <a:xfrm rot="16200000">
            <a:off x="2778903" y="3221833"/>
            <a:ext cx="1357322" cy="914400"/>
          </a:xfrm>
          <a:prstGeom prst="triangle">
            <a:avLst/>
          </a:prstGeom>
          <a:solidFill>
            <a:srgbClr val="E200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Triangle isocèle 21"/>
          <p:cNvSpPr/>
          <p:nvPr/>
        </p:nvSpPr>
        <p:spPr>
          <a:xfrm rot="5400000">
            <a:off x="5779299" y="3221833"/>
            <a:ext cx="1357322" cy="914400"/>
          </a:xfrm>
          <a:prstGeom prst="triangle">
            <a:avLst/>
          </a:prstGeom>
          <a:solidFill>
            <a:srgbClr val="E200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ZoneTexte 22"/>
          <p:cNvSpPr txBox="1"/>
          <p:nvPr/>
        </p:nvSpPr>
        <p:spPr>
          <a:xfrm>
            <a:off x="500034" y="1714488"/>
            <a:ext cx="1571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93117E"/>
                </a:solidFill>
              </a:rPr>
              <a:t>Les leviers: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43372" y="5143512"/>
            <a:ext cx="1643074" cy="428628"/>
          </a:xfrm>
          <a:prstGeom prst="rect">
            <a:avLst/>
          </a:prstGeom>
          <a:solidFill>
            <a:srgbClr val="E95D0F"/>
          </a:solidFill>
          <a:ln>
            <a:noFill/>
          </a:ln>
          <a:effectLst>
            <a:outerShdw blurRad="50800" dist="50800" dir="5400000" algn="ctr" rotWithShape="0">
              <a:schemeClr val="bg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Sympathie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25" name="Rectangle à coins arrondis 24"/>
          <p:cNvSpPr/>
          <p:nvPr/>
        </p:nvSpPr>
        <p:spPr>
          <a:xfrm>
            <a:off x="7072330" y="2928934"/>
            <a:ext cx="1785950" cy="1500198"/>
          </a:xfrm>
          <a:prstGeom prst="roundRect">
            <a:avLst/>
          </a:prstGeom>
          <a:noFill/>
          <a:ln>
            <a:solidFill>
              <a:srgbClr val="9311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Ce que dit le vendeur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C- La vente 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500034" y="2000240"/>
            <a:ext cx="8229600" cy="3929090"/>
          </a:xfrm>
        </p:spPr>
        <p:txBody>
          <a:bodyPr>
            <a:normAutofit/>
          </a:bodyPr>
          <a:lstStyle/>
          <a:p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6- Et si vous argumentiez en vous adaptant au client?</a:t>
            </a:r>
          </a:p>
          <a:p>
            <a:pPr lvl="1">
              <a:buNone/>
            </a:pPr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2">
              <a:buFont typeface="Wingdings" pitchFamily="2" charset="2"/>
              <a:buChar char="Ø"/>
            </a:pPr>
            <a:r>
              <a:rPr lang="fr-FR" sz="2800" b="1" dirty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Exercice SIMAC</a:t>
            </a: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25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C- La vente 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500034" y="2000240"/>
            <a:ext cx="8229600" cy="3929090"/>
          </a:xfrm>
        </p:spPr>
        <p:txBody>
          <a:bodyPr>
            <a:normAutofit/>
          </a:bodyPr>
          <a:lstStyle/>
          <a:p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7- Argumenter avec la méthode CAP</a:t>
            </a:r>
          </a:p>
          <a:p>
            <a:pPr lvl="1">
              <a:buNone/>
            </a:pPr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2">
              <a:buFont typeface="Wingdings" pitchFamily="2" charset="2"/>
              <a:buChar char="Ø"/>
            </a:pPr>
            <a:r>
              <a:rPr lang="fr-FR" sz="3200" b="1" dirty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Exercice</a:t>
            </a: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26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819564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C- La vente 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611560" y="1700808"/>
            <a:ext cx="8229600" cy="4237072"/>
          </a:xfrm>
        </p:spPr>
        <p:txBody>
          <a:bodyPr>
            <a:normAutofit lnSpcReduction="10000"/>
          </a:bodyPr>
          <a:lstStyle/>
          <a:p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8- La notion d’assertivité</a:t>
            </a:r>
          </a:p>
          <a:p>
            <a:pPr lvl="1">
              <a:buNone/>
            </a:pPr>
            <a:r>
              <a:rPr lang="fr-FR" b="1" dirty="0"/>
              <a:t>	</a:t>
            </a:r>
            <a:r>
              <a:rPr lang="fr-FR" sz="2400" dirty="0">
                <a:solidFill>
                  <a:srgbClr val="E95D0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C’est le fait de défendre vos droits personnels et d’exprimer vos pensées, vos sentiments et vos convictions de façons directe, honnête, ferme et appropriée. </a:t>
            </a:r>
          </a:p>
          <a:p>
            <a:pPr lvl="1">
              <a:buNone/>
            </a:pPr>
            <a:endParaRPr lang="fr-FR" sz="2400" dirty="0">
              <a:solidFill>
                <a:srgbClr val="E95D0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>
              <a:buFont typeface="Wingdings" pitchFamily="2" charset="2"/>
              <a:buChar char="Ø"/>
            </a:pPr>
            <a:r>
              <a:rPr lang="fr-FR" sz="2800" b="1" dirty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 Respecter autrui et sa position</a:t>
            </a:r>
          </a:p>
          <a:p>
            <a:pPr lvl="2">
              <a:buFont typeface="Wingdings" pitchFamily="2" charset="2"/>
              <a:buChar char="Ø"/>
            </a:pPr>
            <a:r>
              <a:rPr lang="fr-FR" sz="2800" b="1" dirty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 Se défendre sans inquiétude</a:t>
            </a:r>
          </a:p>
          <a:p>
            <a:pPr lvl="2">
              <a:buFont typeface="Wingdings" pitchFamily="2" charset="2"/>
              <a:buChar char="Ø"/>
            </a:pPr>
            <a:r>
              <a:rPr lang="fr-FR" sz="2800" b="1" dirty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 S’exprimer de façon assumée et confortable</a:t>
            </a:r>
          </a:p>
          <a:p>
            <a:pPr lvl="2">
              <a:buFont typeface="Wingdings" pitchFamily="2" charset="2"/>
              <a:buChar char="Ø"/>
            </a:pPr>
            <a:endParaRPr lang="fr-FR" sz="2800" b="1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27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823000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C- La vente 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500034" y="2000240"/>
            <a:ext cx="8229600" cy="3929090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9- Et si vous receviez un cadeau?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L’objection</a:t>
            </a:r>
          </a:p>
          <a:p>
            <a:pPr lvl="1">
              <a:buNone/>
            </a:pPr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2">
              <a:buFont typeface="Wingdings" pitchFamily="2" charset="2"/>
              <a:buChar char="Ø"/>
            </a:pPr>
            <a:r>
              <a:rPr lang="fr-FR" sz="2800" b="1" dirty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Un cadeau pour conclure la vente</a:t>
            </a: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28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C- La vente 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500034" y="2000240"/>
            <a:ext cx="8229600" cy="3929090"/>
          </a:xfrm>
        </p:spPr>
        <p:txBody>
          <a:bodyPr>
            <a:normAutofit/>
          </a:bodyPr>
          <a:lstStyle/>
          <a:p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9- Et si vous receviez un cadeau?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L’objection</a:t>
            </a:r>
          </a:p>
          <a:p>
            <a:pPr lvl="1">
              <a:buNone/>
            </a:pPr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2">
              <a:buFont typeface="Wingdings" pitchFamily="2" charset="2"/>
              <a:buChar char="Ø"/>
            </a:pPr>
            <a:r>
              <a:rPr lang="fr-FR" sz="2800" b="1" dirty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Exercice</a:t>
            </a: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29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C- La vente 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500034" y="2000240"/>
            <a:ext cx="8229600" cy="3929090"/>
          </a:xfrm>
        </p:spPr>
        <p:txBody>
          <a:bodyPr>
            <a:normAutofit/>
          </a:bodyPr>
          <a:lstStyle/>
          <a:p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9- Et si vous receviez un cadeau?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L’objection </a:t>
            </a:r>
            <a:r>
              <a:rPr lang="fr-FR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prix</a:t>
            </a:r>
          </a:p>
          <a:p>
            <a:pPr lvl="1">
              <a:buNone/>
            </a:pPr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2">
              <a:buFont typeface="Wingdings" pitchFamily="2" charset="2"/>
              <a:buChar char="Ø"/>
            </a:pPr>
            <a:r>
              <a:rPr lang="fr-FR" sz="2800" b="1" dirty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Exercice</a:t>
            </a: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30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495571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C- La vente 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500034" y="2000240"/>
            <a:ext cx="8229600" cy="3929090"/>
          </a:xfrm>
        </p:spPr>
        <p:txBody>
          <a:bodyPr>
            <a:normAutofit/>
          </a:bodyPr>
          <a:lstStyle/>
          <a:p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9- Et si vous receviez un cadeau?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L’objection</a:t>
            </a:r>
          </a:p>
          <a:p>
            <a:pPr lvl="1">
              <a:buNone/>
            </a:pPr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2">
              <a:buFont typeface="Wingdings" pitchFamily="2" charset="2"/>
              <a:buChar char="Ø"/>
            </a:pPr>
            <a:r>
              <a:rPr lang="fr-FR" sz="2800" b="1" dirty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Les tactiques de réfutation</a:t>
            </a:r>
          </a:p>
          <a:p>
            <a:pPr lvl="2">
              <a:buFont typeface="Wingdings" pitchFamily="2" charset="2"/>
              <a:buChar char="Ø"/>
            </a:pPr>
            <a:r>
              <a:rPr lang="fr-FR" sz="2800" b="1" dirty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La méthode SANDWICH</a:t>
            </a: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31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C- La vente 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683568" y="1588568"/>
            <a:ext cx="8229600" cy="4536504"/>
          </a:xfrm>
        </p:spPr>
        <p:txBody>
          <a:bodyPr>
            <a:normAutofit/>
          </a:bodyPr>
          <a:lstStyle/>
          <a:p>
            <a:pPr lvl="2">
              <a:buFont typeface="Wingdings" pitchFamily="2" charset="2"/>
              <a:buChar char="Ø"/>
            </a:pPr>
            <a:r>
              <a:rPr lang="fr-FR" sz="2800" b="1" dirty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La méthode SANDWICH</a:t>
            </a:r>
          </a:p>
          <a:p>
            <a:pPr lvl="2">
              <a:buFont typeface="Wingdings" pitchFamily="2" charset="2"/>
              <a:buChar char="Ø"/>
            </a:pPr>
            <a:endParaRPr lang="fr-FR" sz="2800" b="1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32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  <p:pic>
        <p:nvPicPr>
          <p:cNvPr id="3" name="Picture 2" descr="Afficher l'image d'origin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259" y="2348880"/>
            <a:ext cx="7710573" cy="3392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69796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C- La vente 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500034" y="2000240"/>
            <a:ext cx="8229600" cy="3929090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10- Apporter une solution pertinente au client</a:t>
            </a:r>
          </a:p>
          <a:p>
            <a:pPr lvl="1"/>
            <a:r>
              <a:rPr lang="fr-FR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Sa </a:t>
            </a:r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solution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Une solution sur-mesure</a:t>
            </a:r>
          </a:p>
          <a:p>
            <a:pPr lvl="1">
              <a:buNone/>
            </a:pPr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2">
              <a:buFont typeface="Wingdings" pitchFamily="2" charset="2"/>
              <a:buChar char="Ø"/>
            </a:pPr>
            <a:r>
              <a:rPr lang="fr-FR" sz="2800" b="1" dirty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Exercice</a:t>
            </a: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33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C- La vente 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500034" y="2000240"/>
            <a:ext cx="8229600" cy="3929090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11- La prise de congés professionnelle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Reformulation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Courtoisie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Anticipation (prochaine visite)</a:t>
            </a:r>
          </a:p>
          <a:p>
            <a:pPr lvl="1">
              <a:buNone/>
            </a:pPr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marL="914400" lvl="2" indent="0">
              <a:buNone/>
            </a:pPr>
            <a:endParaRPr lang="fr-FR" sz="2800" b="1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34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431571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785786" y="2643182"/>
            <a:ext cx="7358114" cy="1143000"/>
          </a:xfrm>
        </p:spPr>
        <p:txBody>
          <a:bodyPr>
            <a:normAutofit/>
          </a:bodyPr>
          <a:lstStyle/>
          <a:p>
            <a:r>
              <a:rPr lang="fr-FR" sz="4000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D- L’après vente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35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3764735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D- L’après vente 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500034" y="2000240"/>
            <a:ext cx="8229600" cy="3929090"/>
          </a:xfrm>
        </p:spPr>
        <p:txBody>
          <a:bodyPr>
            <a:normAutofit/>
          </a:bodyPr>
          <a:lstStyle/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36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  <p:graphicFrame>
        <p:nvGraphicFramePr>
          <p:cNvPr id="2" name="Diagramme 1"/>
          <p:cNvGraphicFramePr/>
          <p:nvPr>
            <p:extLst>
              <p:ext uri="{D42A27DB-BD31-4B8C-83A1-F6EECF244321}">
                <p14:modId xmlns:p14="http://schemas.microsoft.com/office/powerpoint/2010/main" val="4273515417"/>
              </p:ext>
            </p:extLst>
          </p:nvPr>
        </p:nvGraphicFramePr>
        <p:xfrm>
          <a:off x="2843808" y="1948086"/>
          <a:ext cx="5961714" cy="44332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3" name="ZoneTexte 2"/>
          <p:cNvSpPr txBox="1"/>
          <p:nvPr/>
        </p:nvSpPr>
        <p:spPr>
          <a:xfrm>
            <a:off x="269760" y="1476653"/>
            <a:ext cx="4158224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lvl="3">
              <a:buNone/>
            </a:pPr>
            <a:r>
              <a:rPr lang="fr-FR" sz="2800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1- Le cercle vertueux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2581450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D- L’ après vente 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500034" y="2000240"/>
            <a:ext cx="8229600" cy="3929090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2- Les outils du cercle vertueux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Le logiciel de CRM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Vos visites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Vous-même</a:t>
            </a:r>
          </a:p>
          <a:p>
            <a:pPr lvl="1"/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2">
              <a:buFont typeface="Wingdings" panose="05000000000000000000" pitchFamily="2" charset="2"/>
              <a:buChar char="Ø"/>
            </a:pPr>
            <a:r>
              <a:rPr lang="fr-FR" sz="3200" dirty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Exercice</a:t>
            </a:r>
          </a:p>
          <a:p>
            <a:pPr lvl="1">
              <a:buNone/>
            </a:pPr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37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612623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427984" y="2348880"/>
            <a:ext cx="4608512" cy="2498620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fr-FR" sz="3500" b="1" i="1" dirty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	Savoir écouter, c’est posséder, outre le sien, le cerveau des autres.</a:t>
            </a:r>
          </a:p>
          <a:p>
            <a:pPr>
              <a:buNone/>
            </a:pPr>
            <a:endParaRPr lang="fr-FR" b="1" i="1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 algn="r">
              <a:buNone/>
            </a:pPr>
            <a:r>
              <a:rPr lang="fr-FR" sz="2600" b="1" dirty="0">
                <a:solidFill>
                  <a:srgbClr val="D4D600"/>
                </a:solidFill>
                <a:latin typeface="Arial" pitchFamily="34" charset="0"/>
                <a:cs typeface="Arial" pitchFamily="34" charset="0"/>
              </a:rPr>
              <a:t>Leonard de Vinci</a:t>
            </a:r>
            <a:endParaRPr lang="fr-FR" sz="2600" dirty="0">
              <a:solidFill>
                <a:srgbClr val="D4D6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38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  <p:pic>
        <p:nvPicPr>
          <p:cNvPr id="2050" name="Picture 2" descr="Afficher l'image d'origin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44" y="2060848"/>
            <a:ext cx="4186436" cy="3139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1303</Words>
  <Application>Microsoft Office PowerPoint</Application>
  <PresentationFormat>Affichage à l'écran (4:3)</PresentationFormat>
  <Paragraphs>500</Paragraphs>
  <Slides>38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38</vt:i4>
      </vt:variant>
    </vt:vector>
  </HeadingPairs>
  <TitlesOfParts>
    <vt:vector size="42" baseType="lpstr">
      <vt:lpstr>Arial</vt:lpstr>
      <vt:lpstr>Calibri</vt:lpstr>
      <vt:lpstr>Wingdings</vt:lpstr>
      <vt:lpstr>Thème Office</vt:lpstr>
      <vt:lpstr>Présentation PowerPoint</vt:lpstr>
      <vt:lpstr>OBJECTIFS</vt:lpstr>
      <vt:lpstr>A- Qu’est-ce qu’un vendeur?</vt:lpstr>
      <vt:lpstr>A- Le vendeur</vt:lpstr>
      <vt:lpstr>A- Le vendeur</vt:lpstr>
      <vt:lpstr>A- Le vendeur</vt:lpstr>
      <vt:lpstr>            C- La vente</vt:lpstr>
      <vt:lpstr>            C- La vente</vt:lpstr>
      <vt:lpstr>A- Le vendeur</vt:lpstr>
      <vt:lpstr>B- Qu’est-ce qu’un prospect?</vt:lpstr>
      <vt:lpstr>B- Le prospect</vt:lpstr>
      <vt:lpstr>C- La vente: concrètement</vt:lpstr>
      <vt:lpstr>C- La vente </vt:lpstr>
      <vt:lpstr>C- La vente </vt:lpstr>
      <vt:lpstr>C- La vente </vt:lpstr>
      <vt:lpstr>C- La vente </vt:lpstr>
      <vt:lpstr>C- La vente </vt:lpstr>
      <vt:lpstr>C- La vente </vt:lpstr>
      <vt:lpstr>C- La vente </vt:lpstr>
      <vt:lpstr>C- La vente </vt:lpstr>
      <vt:lpstr>C- La vente </vt:lpstr>
      <vt:lpstr>C- La vente </vt:lpstr>
      <vt:lpstr>C- La vente </vt:lpstr>
      <vt:lpstr>            C- La vente</vt:lpstr>
      <vt:lpstr>C- La vente </vt:lpstr>
      <vt:lpstr>C- La vente </vt:lpstr>
      <vt:lpstr>C- La vente </vt:lpstr>
      <vt:lpstr>C- La vente </vt:lpstr>
      <vt:lpstr>C- La vente </vt:lpstr>
      <vt:lpstr>C- La vente </vt:lpstr>
      <vt:lpstr>C- La vente </vt:lpstr>
      <vt:lpstr>C- La vente </vt:lpstr>
      <vt:lpstr>C- La vente </vt:lpstr>
      <vt:lpstr>C- La vente </vt:lpstr>
      <vt:lpstr>D- L’après vente</vt:lpstr>
      <vt:lpstr>D- L’après vente </vt:lpstr>
      <vt:lpstr>D- L’ après vente 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Administrateur</dc:creator>
  <cp:lastModifiedBy>JOULIE NATHALIE</cp:lastModifiedBy>
  <cp:revision>110</cp:revision>
  <dcterms:created xsi:type="dcterms:W3CDTF">2011-11-12T19:31:13Z</dcterms:created>
  <dcterms:modified xsi:type="dcterms:W3CDTF">2024-01-11T08:34:36Z</dcterms:modified>
</cp:coreProperties>
</file>